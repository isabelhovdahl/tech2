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1E2761"/>
    <a:srgbClr val="F1F4FB"/>
    <a:srgbClr val="F96167"/>
    <a:srgbClr val="CADCFC"/>
    <a:srgbClr val="9DA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0B44DB-6B5F-4191-BBE5-E466B355467C}" v="1" dt="2026-08-09T11:12:19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modSld">
      <pc:chgData name="Isabel Montero Hovdahl" userId="e6c00a4d-4ab5-475c-996d-11be2680c122" providerId="ADAL" clId="{492A1D5D-B8BD-4473-8F28-59B786D7141F}" dt="2026-08-09T11:38:26.772" v="511" actId="403"/>
      <pc:docMkLst>
        <pc:docMk/>
      </pc:docMkLst>
      <pc:sldChg chg="modSp mod">
        <pc:chgData name="Isabel Montero Hovdahl" userId="e6c00a4d-4ab5-475c-996d-11be2680c122" providerId="ADAL" clId="{492A1D5D-B8BD-4473-8F28-59B786D7141F}" dt="2026-08-09T11:10:28.446" v="6" actId="2057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8-09T11:10:28.446" v="6" actId="20577"/>
          <ac:spMkLst>
            <pc:docMk/>
            <pc:sldMk cId="0" sldId="256"/>
            <ac:spMk id="104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44.708" v="466" actId="404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8-09T11:29:36.115" v="454" actId="403"/>
          <ac:spMkLst>
            <pc:docMk/>
            <pc:sldMk cId="0" sldId="257"/>
            <ac:spMk id="1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4.708" v="466" actId="404"/>
          <ac:spMkLst>
            <pc:docMk/>
            <pc:sldMk cId="0" sldId="257"/>
            <ac:spMk id="113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49.423" v="467" actId="404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8-09T11:29:59.125" v="458" actId="403"/>
          <ac:spMkLst>
            <pc:docMk/>
            <pc:sldMk cId="0" sldId="258"/>
            <ac:spMk id="12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29:56.672" v="457" actId="403"/>
          <ac:spMkLst>
            <pc:docMk/>
            <pc:sldMk cId="0" sldId="258"/>
            <ac:spMk id="12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29:52.317" v="456" actId="403"/>
          <ac:spMkLst>
            <pc:docMk/>
            <pc:sldMk cId="0" sldId="258"/>
            <ac:spMk id="12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9.423" v="467" actId="404"/>
          <ac:spMkLst>
            <pc:docMk/>
            <pc:sldMk cId="0" sldId="258"/>
            <ac:spMk id="12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3.526" v="468" actId="404"/>
        <pc:sldMkLst>
          <pc:docMk/>
          <pc:sldMk cId="0" sldId="259"/>
        </pc:sldMkLst>
        <pc:spChg chg="mod">
          <ac:chgData name="Isabel Montero Hovdahl" userId="e6c00a4d-4ab5-475c-996d-11be2680c122" providerId="ADAL" clId="{492A1D5D-B8BD-4473-8F28-59B786D7141F}" dt="2026-08-09T11:30:15.904" v="460" actId="403"/>
          <ac:spMkLst>
            <pc:docMk/>
            <pc:sldMk cId="0" sldId="259"/>
            <ac:spMk id="13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53.526" v="468" actId="404"/>
          <ac:spMkLst>
            <pc:docMk/>
            <pc:sldMk cId="0" sldId="259"/>
            <ac:spMk id="137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8.882" v="469" actId="404"/>
        <pc:sldMkLst>
          <pc:docMk/>
          <pc:sldMk cId="0" sldId="260"/>
        </pc:sldMkLst>
        <pc:spChg chg="mod">
          <ac:chgData name="Isabel Montero Hovdahl" userId="e6c00a4d-4ab5-475c-996d-11be2680c122" providerId="ADAL" clId="{492A1D5D-B8BD-4473-8F28-59B786D7141F}" dt="2026-08-09T11:30:58.882" v="469" actId="404"/>
          <ac:spMkLst>
            <pc:docMk/>
            <pc:sldMk cId="0" sldId="260"/>
            <ac:spMk id="146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8-09T11:30:33.258" v="464" actId="404"/>
          <ac:graphicFrameMkLst>
            <pc:docMk/>
            <pc:sldMk cId="0" sldId="260"/>
            <ac:graphicFrameMk id="144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1:17.599" v="474" actId="403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8-09T11:31:10.172" v="471" actId="403"/>
          <ac:spMkLst>
            <pc:docMk/>
            <pc:sldMk cId="0" sldId="261"/>
            <ac:spMk id="15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2.762" v="472" actId="403"/>
          <ac:spMkLst>
            <pc:docMk/>
            <pc:sldMk cId="0" sldId="261"/>
            <ac:spMk id="15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5.161" v="473" actId="403"/>
          <ac:spMkLst>
            <pc:docMk/>
            <pc:sldMk cId="0" sldId="261"/>
            <ac:spMk id="16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7.599" v="474" actId="403"/>
          <ac:spMkLst>
            <pc:docMk/>
            <pc:sldMk cId="0" sldId="261"/>
            <ac:spMk id="16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06.525" v="470" actId="113"/>
          <ac:spMkLst>
            <pc:docMk/>
            <pc:sldMk cId="0" sldId="261"/>
            <ac:spMk id="166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1:47.599" v="476" actId="403"/>
        <pc:sldMkLst>
          <pc:docMk/>
          <pc:sldMk cId="0" sldId="262"/>
        </pc:sldMkLst>
        <pc:graphicFrameChg chg="modGraphic">
          <ac:chgData name="Isabel Montero Hovdahl" userId="e6c00a4d-4ab5-475c-996d-11be2680c122" providerId="ADAL" clId="{492A1D5D-B8BD-4473-8F28-59B786D7141F}" dt="2026-08-09T11:31:47.599" v="476" actId="403"/>
          <ac:graphicFrameMkLst>
            <pc:docMk/>
            <pc:sldMk cId="0" sldId="262"/>
            <ac:graphicFrameMk id="173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3:01.707" v="479" actId="403"/>
        <pc:sldMkLst>
          <pc:docMk/>
          <pc:sldMk cId="0" sldId="263"/>
        </pc:sldMkLst>
        <pc:spChg chg="mod">
          <ac:chgData name="Isabel Montero Hovdahl" userId="e6c00a4d-4ab5-475c-996d-11be2680c122" providerId="ADAL" clId="{492A1D5D-B8BD-4473-8F28-59B786D7141F}" dt="2026-08-09T11:32:56.215" v="477" actId="403"/>
          <ac:spMkLst>
            <pc:docMk/>
            <pc:sldMk cId="0" sldId="263"/>
            <ac:spMk id="18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2:58.533" v="478" actId="403"/>
          <ac:spMkLst>
            <pc:docMk/>
            <pc:sldMk cId="0" sldId="263"/>
            <ac:spMk id="18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3:01.707" v="479" actId="403"/>
          <ac:spMkLst>
            <pc:docMk/>
            <pc:sldMk cId="0" sldId="263"/>
            <ac:spMk id="18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4:17.199" v="504" actId="20577"/>
        <pc:sldMkLst>
          <pc:docMk/>
          <pc:sldMk cId="0" sldId="264"/>
        </pc:sldMkLst>
        <pc:spChg chg="mod">
          <ac:chgData name="Isabel Montero Hovdahl" userId="e6c00a4d-4ab5-475c-996d-11be2680c122" providerId="ADAL" clId="{492A1D5D-B8BD-4473-8F28-59B786D7141F}" dt="2026-08-09T11:34:17.199" v="504" actId="20577"/>
          <ac:spMkLst>
            <pc:docMk/>
            <pc:sldMk cId="0" sldId="264"/>
            <ac:spMk id="20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4:45.808" v="505" actId="403"/>
        <pc:sldMkLst>
          <pc:docMk/>
          <pc:sldMk cId="0" sldId="265"/>
        </pc:sldMkLst>
        <pc:spChg chg="mod">
          <ac:chgData name="Isabel Montero Hovdahl" userId="e6c00a4d-4ab5-475c-996d-11be2680c122" providerId="ADAL" clId="{492A1D5D-B8BD-4473-8F28-59B786D7141F}" dt="2026-08-09T11:34:45.808" v="505" actId="403"/>
          <ac:spMkLst>
            <pc:docMk/>
            <pc:sldMk cId="0" sldId="265"/>
            <ac:spMk id="212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5:07.559" v="506" actId="403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8-09T11:29:01.333" v="453" actId="20577"/>
          <ac:spMkLst>
            <pc:docMk/>
            <pc:sldMk cId="0" sldId="266"/>
            <ac:spMk id="224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8-09T11:35:07.559" v="506" actId="403"/>
          <ac:graphicFrameMkLst>
            <pc:docMk/>
            <pc:sldMk cId="0" sldId="266"/>
            <ac:graphicFrameMk id="221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5:56.089" v="507" actId="403"/>
        <pc:sldMkLst>
          <pc:docMk/>
          <pc:sldMk cId="0" sldId="267"/>
        </pc:sldMkLst>
        <pc:spChg chg="mod">
          <ac:chgData name="Isabel Montero Hovdahl" userId="e6c00a4d-4ab5-475c-996d-11be2680c122" providerId="ADAL" clId="{492A1D5D-B8BD-4473-8F28-59B786D7141F}" dt="2026-08-09T11:35:56.089" v="507" actId="403"/>
          <ac:spMkLst>
            <pc:docMk/>
            <pc:sldMk cId="0" sldId="267"/>
            <ac:spMk id="231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8:26.772" v="511" actId="403"/>
        <pc:sldMkLst>
          <pc:docMk/>
          <pc:sldMk cId="0" sldId="268"/>
        </pc:sldMkLst>
        <pc:spChg chg="mod">
          <ac:chgData name="Isabel Montero Hovdahl" userId="e6c00a4d-4ab5-475c-996d-11be2680c122" providerId="ADAL" clId="{492A1D5D-B8BD-4473-8F28-59B786D7141F}" dt="2026-08-09T11:38:07.461" v="508" actId="403"/>
          <ac:spMkLst>
            <pc:docMk/>
            <pc:sldMk cId="0" sldId="268"/>
            <ac:spMk id="24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10.146" v="509" actId="403"/>
          <ac:spMkLst>
            <pc:docMk/>
            <pc:sldMk cId="0" sldId="268"/>
            <ac:spMk id="24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4.037" v="510" actId="403"/>
          <ac:spMkLst>
            <pc:docMk/>
            <pc:sldMk cId="0" sldId="268"/>
            <ac:spMk id="24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6.772" v="511" actId="403"/>
          <ac:spMkLst>
            <pc:docMk/>
            <pc:sldMk cId="0" sldId="268"/>
            <ac:spMk id="25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2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1152144"/>
            <a:ext cx="713232" cy="713232"/>
          </a:xfrm>
          <a:prstGeom prst="rect">
            <a:avLst/>
          </a:prstGeom>
        </p:spPr>
      </p:pic>
      <p:sp>
        <p:nvSpPr>
          <p:cNvPr id="103" name="Text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</a:p>
        </p:txBody>
      </p:sp>
      <p:sp>
        <p:nvSpPr>
          <p:cNvPr id="104" name="Text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Lecture</a:t>
            </a:r>
          </a:p>
        </p:txBody>
      </p:sp>
      <p:sp>
        <p:nvSpPr>
          <p:cNvPr id="105" name="Text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Programming, Data, and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</a:p>
        </p:txBody>
      </p:sp>
      <p:sp>
        <p:nvSpPr>
          <p:cNvPr id="10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9" name="Icon" descr="icons/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TECH2</a:t>
            </a:r>
          </a:p>
        </p:txBody>
      </p:sp>
      <p:sp>
        <p:nvSpPr>
          <p:cNvPr id="11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halves: programming fundamentals with Isabel (weeks 34– 39), then working with data with Richard (weeks 40– 45)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lecture and one workshop every week — you write code in both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previous programming experience assumed — we start from nothing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is published on GitHub and linked from Canvas</a:t>
            </a:r>
          </a:p>
        </p:txBody>
      </p:sp>
      <p:sp>
        <p:nvSpPr>
          <p:cNvPr id="11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leave knowing what the course covers, how it runs, and what you need working before Friday.</a:t>
            </a:r>
          </a:p>
        </p:txBody>
      </p:sp>
      <p:sp>
        <p:nvSpPr>
          <p:cNvPr id="11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1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18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Teaches What</a:t>
            </a:r>
          </a:p>
        </p:txBody>
      </p:sp>
      <p:sp>
        <p:nvSpPr>
          <p:cNvPr id="12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34– 39 — Isabel Hovdahl: Python basics, decisions, loops, functions, packages</a:t>
            </a:r>
          </a:p>
        </p:txBody>
      </p:sp>
      <p:sp>
        <p:nvSpPr>
          <p:cNvPr id="12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2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40– 45 — Richard Foltyn: GitHub, NumPy, pandas, plotting, data wrangling, AI</a:t>
            </a:r>
          </a:p>
        </p:txBody>
      </p:sp>
      <p:sp>
        <p:nvSpPr>
          <p:cNvPr id="126" name="Bullets"/>
          <p:cNvSpPr/>
          <p:nvPr/>
        </p:nvSpPr>
        <p:spPr>
          <a:xfrm>
            <a:off x="822960" y="36576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teaches you to write Python. Part 2 teaches you to do something useful with it.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course, same tools, same habits — the second half builds directly on the first.</a:t>
            </a:r>
          </a:p>
        </p:txBody>
      </p:sp>
      <p:sp>
        <p:nvSpPr>
          <p:cNvPr id="127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8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isabel.hovdahl@nhh.no · richard.foltyn@nhh.no</a:t>
            </a:r>
          </a:p>
        </p:txBody>
      </p:sp>
      <p:sp>
        <p:nvSpPr>
          <p:cNvPr id="129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1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32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33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34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Python?</a:t>
            </a:r>
          </a:p>
        </p:txBody>
      </p:sp>
      <p:sp>
        <p:nvSpPr>
          <p:cNvPr id="135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 — no licence, runs on any machine you will ever own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enough to learn quickly, powerful enough for serious work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purpose: data analysis, visualization, automation, web, machine learning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widely used programming language today, and the most used on GitHub</a:t>
            </a:r>
          </a:p>
        </p:txBody>
      </p:sp>
      <p:sp>
        <p:nvSpPr>
          <p:cNvPr id="136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7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rankings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tiobe.com/tiobe-index · Fun fact: named after Monty Python, not the snake.</a:t>
            </a:r>
          </a:p>
        </p:txBody>
      </p:sp>
      <p:sp>
        <p:nvSpPr>
          <p:cNvPr id="138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0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41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42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43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TECH2 Fits in BEDS</a:t>
            </a:r>
          </a:p>
        </p:txBody>
      </p:sp>
      <p:graphicFrame>
        <p:nvGraphicFramePr>
          <p:cNvPr id="1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663957"/>
              </p:ext>
            </p:extLst>
          </p:nvPr>
        </p:nvGraphicFramePr>
        <p:xfrm>
          <a:off x="822960" y="1965960"/>
          <a:ext cx="10543032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use Python for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TECH2 — this 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Programming, data analysis, visualization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TECH3: Applied Statistics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analysis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TECH4: Mathematics for 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Optimizers and solvers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TECH5: Programming and Application Design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Object-oriented programming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TECH6: Data Science and Econometrics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foundation course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 you learn here you will use throughout the program.</a:t>
            </a:r>
          </a:p>
        </p:txBody>
      </p:sp>
      <p:sp>
        <p:nvSpPr>
          <p:cNvPr id="14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5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51" name="Icon" descr="icons/nav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5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Course Runs</a:t>
            </a:r>
          </a:p>
        </p:txBody>
      </p:sp>
      <p:sp>
        <p:nvSpPr>
          <p:cNvPr id="153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4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55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— Wednesdays 08:15– 10:00, aud. B: new ideas, worked examples, live coding</a:t>
            </a:r>
          </a:p>
        </p:txBody>
      </p:sp>
      <p:sp>
        <p:nvSpPr>
          <p:cNvPr id="156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7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58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Fridays 12:15– 14:00, aud. B: you write the code, we help when you get stuck</a:t>
            </a:r>
          </a:p>
        </p:txBody>
      </p:sp>
      <p:sp>
        <p:nvSpPr>
          <p:cNvPr id="159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0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61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mandatory assignments in weeks 35, 39 and 43 — all three must pass</a:t>
            </a:r>
          </a:p>
        </p:txBody>
      </p:sp>
      <p:sp>
        <p:nvSpPr>
          <p:cNvPr id="162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3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64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both — you learn this by typing, not by watching</a:t>
            </a:r>
          </a:p>
        </p:txBody>
      </p:sp>
      <p:sp>
        <p:nvSpPr>
          <p:cNvPr id="16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happens in the classroom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workshops are both hands-on, so participation is important.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i="1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7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1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Schedule</a:t>
            </a:r>
          </a:p>
        </p:txBody>
      </p:sp>
      <p:graphicFrame>
        <p:nvGraphicFramePr>
          <p:cNvPr id="17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476104"/>
              </p:ext>
            </p:extLst>
          </p:nvPr>
        </p:nvGraphicFramePr>
        <p:xfrm>
          <a:off x="822960" y="1874520"/>
          <a:ext cx="10543032" cy="4389120"/>
        </p:xfrm>
        <a:graphic>
          <a:graphicData uri="http://schemas.openxmlformats.org/drawingml/2006/table">
            <a:tbl>
              <a:tblPr/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intro &amp; Getting started with VS Code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basics &amp; Version control with git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packages &amp; Virtual environments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&amp; 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 to 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Plotting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Grouping and aggregation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Concatenating and merging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dirty="0"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7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17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8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Installed</a:t>
            </a:r>
          </a:p>
        </p:txBody>
      </p:sp>
      <p:sp>
        <p:nvSpPr>
          <p:cNvPr id="18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8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— the editor you will write all your code in, from Friday onwards</a:t>
            </a:r>
          </a:p>
        </p:txBody>
      </p:sp>
      <p:sp>
        <p:nvSpPr>
          <p:cNvPr id="18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8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version control, used from week 35 and every week after that</a:t>
            </a:r>
          </a:p>
        </p:txBody>
      </p:sp>
      <p:sp>
        <p:nvSpPr>
          <p:cNvPr id="18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8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 — Python itself, plus conda for managing packages</a:t>
            </a:r>
          </a:p>
        </p:txBody>
      </p:sp>
      <p:sp>
        <p:nvSpPr>
          <p:cNvPr id="189" name="Bullets"/>
          <p:cNvSpPr/>
          <p:nvPr/>
        </p:nvSpPr>
        <p:spPr>
          <a:xfrm>
            <a:off x="822960" y="416052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have Anaconda or Miniconda? You are fine — no need to change anything.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and a two-minute verification checklist: github.com/isabelhovdahl/TECH2 — see guides/</a:t>
            </a:r>
          </a:p>
        </p:txBody>
      </p:sp>
      <p:sp>
        <p:nvSpPr>
          <p:cNvPr id="190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1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will not install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tell us today. We have set aside time in this lecture to fix it.</a:t>
            </a:r>
          </a:p>
        </p:txBody>
      </p:sp>
      <p:sp>
        <p:nvSpPr>
          <p:cNvPr id="192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4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95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96" name="Icon" descr="icons/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97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Python File</a:t>
            </a:r>
          </a:p>
        </p:txBody>
      </p:sp>
      <p:sp>
        <p:nvSpPr>
          <p:cNvPr id="198" name="Box"/>
          <p:cNvSpPr/>
          <p:nvPr/>
        </p:nvSpPr>
        <p:spPr>
          <a:xfrm>
            <a:off x="822960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9" name="Text"/>
          <p:cNvSpPr/>
          <p:nvPr/>
        </p:nvSpPr>
        <p:spPr>
          <a:xfrm>
            <a:off x="1051560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.py — Python script</a:t>
            </a:r>
          </a:p>
        </p:txBody>
      </p:sp>
      <p:sp>
        <p:nvSpPr>
          <p:cNvPr id="200" name="CardBody"/>
          <p:cNvSpPr/>
          <p:nvPr/>
        </p:nvSpPr>
        <p:spPr>
          <a:xfrm>
            <a:off x="1051560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file of Python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top to bottom, every time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programs and reusable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used in workshops </a:t>
            </a:r>
          </a:p>
        </p:txBody>
      </p:sp>
      <p:sp>
        <p:nvSpPr>
          <p:cNvPr id="201" name="Box"/>
          <p:cNvSpPr/>
          <p:nvPr/>
        </p:nvSpPr>
        <p:spPr>
          <a:xfrm>
            <a:off x="6245352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2" name="Text"/>
          <p:cNvSpPr/>
          <p:nvPr/>
        </p:nvSpPr>
        <p:spPr>
          <a:xfrm>
            <a:off x="6473952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.ipynb — Jupyter notebook</a:t>
            </a:r>
          </a:p>
        </p:txBody>
      </p:sp>
      <p:sp>
        <p:nvSpPr>
          <p:cNvPr id="203" name="CardBody"/>
          <p:cNvSpPr/>
          <p:nvPr/>
        </p:nvSpPr>
        <p:spPr>
          <a:xfrm>
            <a:off x="6473952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output and notes in one document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cell by cell, in any order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exploring and explaining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lecture material is written in</a:t>
            </a:r>
          </a:p>
        </p:txBody>
      </p:sp>
      <p:sp>
        <p:nvSpPr>
          <p:cNvPr id="204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5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both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you open both in VS Code — you do not need a separate program for notebooks.</a:t>
            </a:r>
          </a:p>
        </p:txBody>
      </p:sp>
      <p:sp>
        <p:nvSpPr>
          <p:cNvPr id="206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8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09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0" name="Icon" descr="icons/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11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Material Lives</a:t>
            </a:r>
          </a:p>
        </p:txBody>
      </p:sp>
      <p:sp>
        <p:nvSpPr>
          <p:cNvPr id="212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book. Everything is on GitHub, free, and always the current version.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github.com/isabelhovdahl/TECH2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github.com/richardfoltyn/TECH2-H26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Canvas go to Modules — every week links to that week’ s material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 GitHub account to read or download anything in part 1</a:t>
            </a:r>
          </a:p>
        </p:txBody>
      </p:sp>
      <p:sp>
        <p:nvSpPr>
          <p:cNvPr id="213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4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 see it in Modules, it is ready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Material that is not linked yet may still be changing — do not work ahead from GitHub.</a:t>
            </a:r>
          </a:p>
        </p:txBody>
      </p:sp>
      <p:sp>
        <p:nvSpPr>
          <p:cNvPr id="21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1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1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9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2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Assessment</a:t>
            </a:r>
          </a:p>
        </p:txBody>
      </p:sp>
      <p:graphicFrame>
        <p:nvGraphicFramePr>
          <p:cNvPr id="2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776687"/>
              </p:ext>
            </p:extLst>
          </p:nvPr>
        </p:nvGraphicFramePr>
        <p:xfrm>
          <a:off x="822960" y="1965960"/>
          <a:ext cx="10543032" cy="134112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mandatory assignments — individual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pass all three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35, 39 and 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school exam, 3 hours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December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paper, groups of 2– 3, 3 days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on Canvas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2" name="Bullets"/>
          <p:cNvSpPr/>
          <p:nvPr/>
        </p:nvSpPr>
        <p:spPr>
          <a:xfrm>
            <a:off x="822960" y="411480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pass all three assignments to qualify for the exam.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are handed in on Canvas — details are announced there for each one.</a:t>
            </a:r>
          </a:p>
        </p:txBody>
      </p:sp>
      <p:sp>
        <p:nvSpPr>
          <p:cNvPr id="223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4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up week by week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week builds directly on the last so gaps compound. Steady weekly work makes the assignments (and the course) easier.</a:t>
            </a:r>
          </a:p>
        </p:txBody>
      </p:sp>
      <p:sp>
        <p:nvSpPr>
          <p:cNvPr id="22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22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29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in This Course</a:t>
            </a:r>
          </a:p>
        </p:txBody>
      </p:sp>
      <p:sp>
        <p:nvSpPr>
          <p:cNvPr id="23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what an error message means, or for a hint when you are properly stuck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it to explain code you have already written yourself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Ask it for the solution, or accept code you cannot explain line by line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Use it to keep pace when you have fallen behind — this hides the gap, it does not close it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contributes to work you hand in, say so. Each assignment tells you how.</a:t>
            </a:r>
          </a:p>
        </p:txBody>
      </p:sp>
      <p:sp>
        <p:nvSpPr>
          <p:cNvPr id="23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understand things, not to produce things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Full guidelines: guides/ai-guidelines.md</a:t>
            </a:r>
          </a:p>
        </p:txBody>
      </p:sp>
      <p:sp>
        <p:nvSpPr>
          <p:cNvPr id="23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23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38" name="Icon" descr="icons/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Friday</a:t>
            </a:r>
          </a:p>
        </p:txBody>
      </p:sp>
      <p:sp>
        <p:nvSpPr>
          <p:cNvPr id="24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24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VS Code, Git and Miniforge all work — the checklist takes two minutes</a:t>
            </a:r>
          </a:p>
        </p:txBody>
      </p:sp>
      <p:sp>
        <p:nvSpPr>
          <p:cNvPr id="24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24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Canvas, go to Modules, and find this week’ s links</a:t>
            </a:r>
          </a:p>
        </p:txBody>
      </p:sp>
      <p:sp>
        <p:nvSpPr>
          <p:cNvPr id="24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24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AI guidelines — five minutes, and it will change how you work all semester</a:t>
            </a:r>
          </a:p>
        </p:txBody>
      </p:sp>
      <p:sp>
        <p:nvSpPr>
          <p:cNvPr id="249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50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251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the workshop: Friday 12:15, aud. B</a:t>
            </a:r>
          </a:p>
        </p:txBody>
      </p:sp>
      <p:sp>
        <p:nvSpPr>
          <p:cNvPr id="25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prepare beyond this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Turn up on Friday and we start writing code.</a:t>
            </a:r>
          </a:p>
        </p:txBody>
      </p:sp>
      <p:sp>
        <p:nvSpPr>
          <p:cNvPr id="25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56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  <p:sp>
        <p:nvSpPr>
          <p:cNvPr id="257" name="Text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 on Friday</a:t>
            </a:r>
          </a:p>
        </p:txBody>
      </p:sp>
      <p:sp>
        <p:nvSpPr>
          <p:cNvPr id="258" name="Bullets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Wednesdays 08:15 · Workshops Fridays 12:15 · aud. B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on GitHub, linked from Canvas — Modules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Code, Git and Miniforge before the workshop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isabel.hovdahl@nhh.no · richard.foltyn@nhh.no</a:t>
            </a:r>
          </a:p>
        </p:txBody>
      </p:sp>
      <p:sp>
        <p:nvSpPr>
          <p:cNvPr id="259" name="Box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60" name="Text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Getting Started with VS Code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first Python script and your first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1195</Words>
  <Application>Microsoft Office PowerPoint</Application>
  <PresentationFormat>Widescreen</PresentationFormat>
  <Paragraphs>189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2</cp:revision>
  <dcterms:created xsi:type="dcterms:W3CDTF">2026-07-17T12:06:36Z</dcterms:created>
  <dcterms:modified xsi:type="dcterms:W3CDTF">2026-08-09T11:38:27Z</dcterms:modified>
</cp:coreProperties>
</file>