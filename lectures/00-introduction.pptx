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22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3B8F"/>
    <a:srgbClr val="1E2761"/>
    <a:srgbClr val="F1F4FB"/>
    <a:srgbClr val="F96167"/>
    <a:srgbClr val="CADCFC"/>
    <a:srgbClr val="9DAC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0B44DB-6B5F-4191-BBE5-E466B355467C}" v="1" dt="2026-08-09T11:12:19.4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241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1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abel Montero Hovdahl" userId="e6c00a4d-4ab5-475c-996d-11be2680c122" providerId="ADAL" clId="{492A1D5D-B8BD-4473-8F28-59B786D7141F}"/>
    <pc:docChg chg="undo custSel modSld">
      <pc:chgData name="Isabel Montero Hovdahl" userId="e6c00a4d-4ab5-475c-996d-11be2680c122" providerId="ADAL" clId="{492A1D5D-B8BD-4473-8F28-59B786D7141F}" dt="2026-08-09T11:38:26.772" v="511" actId="403"/>
      <pc:docMkLst>
        <pc:docMk/>
      </pc:docMkLst>
      <pc:sldChg chg="modSp mod">
        <pc:chgData name="Isabel Montero Hovdahl" userId="e6c00a4d-4ab5-475c-996d-11be2680c122" providerId="ADAL" clId="{492A1D5D-B8BD-4473-8F28-59B786D7141F}" dt="2026-08-09T11:10:28.446" v="6" actId="20577"/>
        <pc:sldMkLst>
          <pc:docMk/>
          <pc:sldMk cId="0" sldId="256"/>
        </pc:sldMkLst>
        <pc:spChg chg="mod">
          <ac:chgData name="Isabel Montero Hovdahl" userId="e6c00a4d-4ab5-475c-996d-11be2680c122" providerId="ADAL" clId="{492A1D5D-B8BD-4473-8F28-59B786D7141F}" dt="2026-08-09T11:10:28.446" v="6" actId="20577"/>
          <ac:spMkLst>
            <pc:docMk/>
            <pc:sldMk cId="0" sldId="256"/>
            <ac:spMk id="104" creationId="{00000000-0000-0000-0000-000000000000}"/>
          </ac:spMkLst>
        </pc:spChg>
      </pc:sldChg>
      <pc:sldChg chg="modSp mod">
        <pc:chgData name="Isabel Montero Hovdahl" userId="e6c00a4d-4ab5-475c-996d-11be2680c122" providerId="ADAL" clId="{492A1D5D-B8BD-4473-8F28-59B786D7141F}" dt="2026-08-09T11:30:44.708" v="466" actId="404"/>
        <pc:sldMkLst>
          <pc:docMk/>
          <pc:sldMk cId="0" sldId="257"/>
        </pc:sldMkLst>
        <pc:spChg chg="mod">
          <ac:chgData name="Isabel Montero Hovdahl" userId="e6c00a4d-4ab5-475c-996d-11be2680c122" providerId="ADAL" clId="{492A1D5D-B8BD-4473-8F28-59B786D7141F}" dt="2026-08-09T11:29:36.115" v="454" actId="403"/>
          <ac:spMkLst>
            <pc:docMk/>
            <pc:sldMk cId="0" sldId="257"/>
            <ac:spMk id="111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8-09T11:30:44.708" v="466" actId="404"/>
          <ac:spMkLst>
            <pc:docMk/>
            <pc:sldMk cId="0" sldId="257"/>
            <ac:spMk id="113" creationId="{00000000-0000-0000-0000-000000000000}"/>
          </ac:spMkLst>
        </pc:spChg>
      </pc:sldChg>
      <pc:sldChg chg="modSp mod">
        <pc:chgData name="Isabel Montero Hovdahl" userId="e6c00a4d-4ab5-475c-996d-11be2680c122" providerId="ADAL" clId="{492A1D5D-B8BD-4473-8F28-59B786D7141F}" dt="2026-08-09T11:30:49.423" v="467" actId="404"/>
        <pc:sldMkLst>
          <pc:docMk/>
          <pc:sldMk cId="0" sldId="258"/>
        </pc:sldMkLst>
        <pc:spChg chg="mod">
          <ac:chgData name="Isabel Montero Hovdahl" userId="e6c00a4d-4ab5-475c-996d-11be2680c122" providerId="ADAL" clId="{492A1D5D-B8BD-4473-8F28-59B786D7141F}" dt="2026-08-09T11:29:59.125" v="458" actId="403"/>
          <ac:spMkLst>
            <pc:docMk/>
            <pc:sldMk cId="0" sldId="258"/>
            <ac:spMk id="122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8-09T11:29:56.672" v="457" actId="403"/>
          <ac:spMkLst>
            <pc:docMk/>
            <pc:sldMk cId="0" sldId="258"/>
            <ac:spMk id="125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8-09T11:29:52.317" v="456" actId="403"/>
          <ac:spMkLst>
            <pc:docMk/>
            <pc:sldMk cId="0" sldId="258"/>
            <ac:spMk id="126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8-09T11:30:49.423" v="467" actId="404"/>
          <ac:spMkLst>
            <pc:docMk/>
            <pc:sldMk cId="0" sldId="258"/>
            <ac:spMk id="128" creationId="{00000000-0000-0000-0000-000000000000}"/>
          </ac:spMkLst>
        </pc:spChg>
      </pc:sldChg>
      <pc:sldChg chg="modSp mod">
        <pc:chgData name="Isabel Montero Hovdahl" userId="e6c00a4d-4ab5-475c-996d-11be2680c122" providerId="ADAL" clId="{492A1D5D-B8BD-4473-8F28-59B786D7141F}" dt="2026-08-09T11:30:53.526" v="468" actId="404"/>
        <pc:sldMkLst>
          <pc:docMk/>
          <pc:sldMk cId="0" sldId="259"/>
        </pc:sldMkLst>
        <pc:spChg chg="mod">
          <ac:chgData name="Isabel Montero Hovdahl" userId="e6c00a4d-4ab5-475c-996d-11be2680c122" providerId="ADAL" clId="{492A1D5D-B8BD-4473-8F28-59B786D7141F}" dt="2026-08-09T11:30:15.904" v="460" actId="403"/>
          <ac:spMkLst>
            <pc:docMk/>
            <pc:sldMk cId="0" sldId="259"/>
            <ac:spMk id="135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8-09T11:30:53.526" v="468" actId="404"/>
          <ac:spMkLst>
            <pc:docMk/>
            <pc:sldMk cId="0" sldId="259"/>
            <ac:spMk id="137" creationId="{00000000-0000-0000-0000-000000000000}"/>
          </ac:spMkLst>
        </pc:spChg>
      </pc:sldChg>
      <pc:sldChg chg="modSp mod">
        <pc:chgData name="Isabel Montero Hovdahl" userId="e6c00a4d-4ab5-475c-996d-11be2680c122" providerId="ADAL" clId="{492A1D5D-B8BD-4473-8F28-59B786D7141F}" dt="2026-08-09T11:30:58.882" v="469" actId="404"/>
        <pc:sldMkLst>
          <pc:docMk/>
          <pc:sldMk cId="0" sldId="260"/>
        </pc:sldMkLst>
        <pc:spChg chg="mod">
          <ac:chgData name="Isabel Montero Hovdahl" userId="e6c00a4d-4ab5-475c-996d-11be2680c122" providerId="ADAL" clId="{492A1D5D-B8BD-4473-8F28-59B786D7141F}" dt="2026-08-09T11:30:58.882" v="469" actId="404"/>
          <ac:spMkLst>
            <pc:docMk/>
            <pc:sldMk cId="0" sldId="260"/>
            <ac:spMk id="146" creationId="{00000000-0000-0000-0000-000000000000}"/>
          </ac:spMkLst>
        </pc:spChg>
        <pc:graphicFrameChg chg="modGraphic">
          <ac:chgData name="Isabel Montero Hovdahl" userId="e6c00a4d-4ab5-475c-996d-11be2680c122" providerId="ADAL" clId="{492A1D5D-B8BD-4473-8F28-59B786D7141F}" dt="2026-08-09T11:30:33.258" v="464" actId="404"/>
          <ac:graphicFrameMkLst>
            <pc:docMk/>
            <pc:sldMk cId="0" sldId="260"/>
            <ac:graphicFrameMk id="144" creationId="{00000000-0000-0000-0000-000000000000}"/>
          </ac:graphicFrameMkLst>
        </pc:graphicFrameChg>
      </pc:sldChg>
      <pc:sldChg chg="modSp mod">
        <pc:chgData name="Isabel Montero Hovdahl" userId="e6c00a4d-4ab5-475c-996d-11be2680c122" providerId="ADAL" clId="{492A1D5D-B8BD-4473-8F28-59B786D7141F}" dt="2026-08-09T11:31:17.599" v="474" actId="403"/>
        <pc:sldMkLst>
          <pc:docMk/>
          <pc:sldMk cId="0" sldId="261"/>
        </pc:sldMkLst>
        <pc:spChg chg="mod">
          <ac:chgData name="Isabel Montero Hovdahl" userId="e6c00a4d-4ab5-475c-996d-11be2680c122" providerId="ADAL" clId="{492A1D5D-B8BD-4473-8F28-59B786D7141F}" dt="2026-08-09T11:31:10.172" v="471" actId="403"/>
          <ac:spMkLst>
            <pc:docMk/>
            <pc:sldMk cId="0" sldId="261"/>
            <ac:spMk id="155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8-09T11:31:12.762" v="472" actId="403"/>
          <ac:spMkLst>
            <pc:docMk/>
            <pc:sldMk cId="0" sldId="261"/>
            <ac:spMk id="158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8-09T11:31:15.161" v="473" actId="403"/>
          <ac:spMkLst>
            <pc:docMk/>
            <pc:sldMk cId="0" sldId="261"/>
            <ac:spMk id="161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8-09T11:31:17.599" v="474" actId="403"/>
          <ac:spMkLst>
            <pc:docMk/>
            <pc:sldMk cId="0" sldId="261"/>
            <ac:spMk id="164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8-09T11:31:06.525" v="470" actId="113"/>
          <ac:spMkLst>
            <pc:docMk/>
            <pc:sldMk cId="0" sldId="261"/>
            <ac:spMk id="166" creationId="{00000000-0000-0000-0000-000000000000}"/>
          </ac:spMkLst>
        </pc:spChg>
      </pc:sldChg>
      <pc:sldChg chg="modSp mod">
        <pc:chgData name="Isabel Montero Hovdahl" userId="e6c00a4d-4ab5-475c-996d-11be2680c122" providerId="ADAL" clId="{492A1D5D-B8BD-4473-8F28-59B786D7141F}" dt="2026-08-09T11:31:47.599" v="476" actId="403"/>
        <pc:sldMkLst>
          <pc:docMk/>
          <pc:sldMk cId="0" sldId="262"/>
        </pc:sldMkLst>
        <pc:graphicFrameChg chg="modGraphic">
          <ac:chgData name="Isabel Montero Hovdahl" userId="e6c00a4d-4ab5-475c-996d-11be2680c122" providerId="ADAL" clId="{492A1D5D-B8BD-4473-8F28-59B786D7141F}" dt="2026-08-09T11:31:47.599" v="476" actId="403"/>
          <ac:graphicFrameMkLst>
            <pc:docMk/>
            <pc:sldMk cId="0" sldId="262"/>
            <ac:graphicFrameMk id="173" creationId="{00000000-0000-0000-0000-000000000000}"/>
          </ac:graphicFrameMkLst>
        </pc:graphicFrameChg>
      </pc:sldChg>
      <pc:sldChg chg="modSp mod">
        <pc:chgData name="Isabel Montero Hovdahl" userId="e6c00a4d-4ab5-475c-996d-11be2680c122" providerId="ADAL" clId="{492A1D5D-B8BD-4473-8F28-59B786D7141F}" dt="2026-08-09T11:33:01.707" v="479" actId="403"/>
        <pc:sldMkLst>
          <pc:docMk/>
          <pc:sldMk cId="0" sldId="263"/>
        </pc:sldMkLst>
        <pc:spChg chg="mod">
          <ac:chgData name="Isabel Montero Hovdahl" userId="e6c00a4d-4ab5-475c-996d-11be2680c122" providerId="ADAL" clId="{492A1D5D-B8BD-4473-8F28-59B786D7141F}" dt="2026-08-09T11:32:56.215" v="477" actId="403"/>
          <ac:spMkLst>
            <pc:docMk/>
            <pc:sldMk cId="0" sldId="263"/>
            <ac:spMk id="182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8-09T11:32:58.533" v="478" actId="403"/>
          <ac:spMkLst>
            <pc:docMk/>
            <pc:sldMk cId="0" sldId="263"/>
            <ac:spMk id="185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8-09T11:33:01.707" v="479" actId="403"/>
          <ac:spMkLst>
            <pc:docMk/>
            <pc:sldMk cId="0" sldId="263"/>
            <ac:spMk id="188" creationId="{00000000-0000-0000-0000-000000000000}"/>
          </ac:spMkLst>
        </pc:spChg>
      </pc:sldChg>
      <pc:sldChg chg="modSp mod">
        <pc:chgData name="Isabel Montero Hovdahl" userId="e6c00a4d-4ab5-475c-996d-11be2680c122" providerId="ADAL" clId="{492A1D5D-B8BD-4473-8F28-59B786D7141F}" dt="2026-08-09T11:34:17.199" v="504" actId="20577"/>
        <pc:sldMkLst>
          <pc:docMk/>
          <pc:sldMk cId="0" sldId="264"/>
        </pc:sldMkLst>
        <pc:spChg chg="mod">
          <ac:chgData name="Isabel Montero Hovdahl" userId="e6c00a4d-4ab5-475c-996d-11be2680c122" providerId="ADAL" clId="{492A1D5D-B8BD-4473-8F28-59B786D7141F}" dt="2026-08-09T11:34:17.199" v="504" actId="20577"/>
          <ac:spMkLst>
            <pc:docMk/>
            <pc:sldMk cId="0" sldId="264"/>
            <ac:spMk id="200" creationId="{00000000-0000-0000-0000-000000000000}"/>
          </ac:spMkLst>
        </pc:spChg>
      </pc:sldChg>
      <pc:sldChg chg="modSp mod">
        <pc:chgData name="Isabel Montero Hovdahl" userId="e6c00a4d-4ab5-475c-996d-11be2680c122" providerId="ADAL" clId="{492A1D5D-B8BD-4473-8F28-59B786D7141F}" dt="2026-08-09T11:34:45.808" v="505" actId="403"/>
        <pc:sldMkLst>
          <pc:docMk/>
          <pc:sldMk cId="0" sldId="265"/>
        </pc:sldMkLst>
        <pc:spChg chg="mod">
          <ac:chgData name="Isabel Montero Hovdahl" userId="e6c00a4d-4ab5-475c-996d-11be2680c122" providerId="ADAL" clId="{492A1D5D-B8BD-4473-8F28-59B786D7141F}" dt="2026-08-09T11:34:45.808" v="505" actId="403"/>
          <ac:spMkLst>
            <pc:docMk/>
            <pc:sldMk cId="0" sldId="265"/>
            <ac:spMk id="212" creationId="{00000000-0000-0000-0000-000000000000}"/>
          </ac:spMkLst>
        </pc:spChg>
      </pc:sldChg>
      <pc:sldChg chg="modSp mod">
        <pc:chgData name="Isabel Montero Hovdahl" userId="e6c00a4d-4ab5-475c-996d-11be2680c122" providerId="ADAL" clId="{492A1D5D-B8BD-4473-8F28-59B786D7141F}" dt="2026-08-09T11:35:07.559" v="506" actId="403"/>
        <pc:sldMkLst>
          <pc:docMk/>
          <pc:sldMk cId="0" sldId="266"/>
        </pc:sldMkLst>
        <pc:spChg chg="mod">
          <ac:chgData name="Isabel Montero Hovdahl" userId="e6c00a4d-4ab5-475c-996d-11be2680c122" providerId="ADAL" clId="{492A1D5D-B8BD-4473-8F28-59B786D7141F}" dt="2026-08-09T11:29:01.333" v="453" actId="20577"/>
          <ac:spMkLst>
            <pc:docMk/>
            <pc:sldMk cId="0" sldId="266"/>
            <ac:spMk id="224" creationId="{00000000-0000-0000-0000-000000000000}"/>
          </ac:spMkLst>
        </pc:spChg>
        <pc:graphicFrameChg chg="modGraphic">
          <ac:chgData name="Isabel Montero Hovdahl" userId="e6c00a4d-4ab5-475c-996d-11be2680c122" providerId="ADAL" clId="{492A1D5D-B8BD-4473-8F28-59B786D7141F}" dt="2026-08-09T11:35:07.559" v="506" actId="403"/>
          <ac:graphicFrameMkLst>
            <pc:docMk/>
            <pc:sldMk cId="0" sldId="266"/>
            <ac:graphicFrameMk id="221" creationId="{00000000-0000-0000-0000-000000000000}"/>
          </ac:graphicFrameMkLst>
        </pc:graphicFrameChg>
      </pc:sldChg>
      <pc:sldChg chg="modSp mod">
        <pc:chgData name="Isabel Montero Hovdahl" userId="e6c00a4d-4ab5-475c-996d-11be2680c122" providerId="ADAL" clId="{492A1D5D-B8BD-4473-8F28-59B786D7141F}" dt="2026-08-09T11:35:56.089" v="507" actId="403"/>
        <pc:sldMkLst>
          <pc:docMk/>
          <pc:sldMk cId="0" sldId="267"/>
        </pc:sldMkLst>
        <pc:spChg chg="mod">
          <ac:chgData name="Isabel Montero Hovdahl" userId="e6c00a4d-4ab5-475c-996d-11be2680c122" providerId="ADAL" clId="{492A1D5D-B8BD-4473-8F28-59B786D7141F}" dt="2026-08-09T11:35:56.089" v="507" actId="403"/>
          <ac:spMkLst>
            <pc:docMk/>
            <pc:sldMk cId="0" sldId="267"/>
            <ac:spMk id="231" creationId="{00000000-0000-0000-0000-000000000000}"/>
          </ac:spMkLst>
        </pc:spChg>
      </pc:sldChg>
      <pc:sldChg chg="modSp mod">
        <pc:chgData name="Isabel Montero Hovdahl" userId="e6c00a4d-4ab5-475c-996d-11be2680c122" providerId="ADAL" clId="{492A1D5D-B8BD-4473-8F28-59B786D7141F}" dt="2026-08-09T11:38:26.772" v="511" actId="403"/>
        <pc:sldMkLst>
          <pc:docMk/>
          <pc:sldMk cId="0" sldId="268"/>
        </pc:sldMkLst>
        <pc:spChg chg="mod">
          <ac:chgData name="Isabel Montero Hovdahl" userId="e6c00a4d-4ab5-475c-996d-11be2680c122" providerId="ADAL" clId="{492A1D5D-B8BD-4473-8F28-59B786D7141F}" dt="2026-08-09T11:38:07.461" v="508" actId="403"/>
          <ac:spMkLst>
            <pc:docMk/>
            <pc:sldMk cId="0" sldId="268"/>
            <ac:spMk id="242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8-09T11:38:10.146" v="509" actId="403"/>
          <ac:spMkLst>
            <pc:docMk/>
            <pc:sldMk cId="0" sldId="268"/>
            <ac:spMk id="245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8-09T11:38:24.037" v="510" actId="403"/>
          <ac:spMkLst>
            <pc:docMk/>
            <pc:sldMk cId="0" sldId="268"/>
            <ac:spMk id="248" creationId="{00000000-0000-0000-0000-000000000000}"/>
          </ac:spMkLst>
        </pc:spChg>
        <pc:spChg chg="mod">
          <ac:chgData name="Isabel Montero Hovdahl" userId="e6c00a4d-4ab5-475c-996d-11be2680c122" providerId="ADAL" clId="{492A1D5D-B8BD-4473-8F28-59B786D7141F}" dt="2026-08-09T11:38:26.772" v="511" actId="403"/>
          <ac:spMkLst>
            <pc:docMk/>
            <pc:sldMk cId="0" sldId="268"/>
            <ac:spMk id="251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Circle"/>
          <p:cNvSpPr/>
          <p:nvPr/>
        </p:nvSpPr>
        <p:spPr>
          <a:xfrm>
            <a:off x="5637276" y="1051560"/>
            <a:ext cx="914400" cy="914400"/>
          </a:xfrm>
          <a:prstGeom prst="ellipse">
            <a:avLst/>
          </a:prstGeom>
          <a:solidFill>
            <a:srgbClr val="2A3B8F"/>
          </a:solidFill>
          <a:ln/>
        </p:spPr>
        <p:txBody>
          <a:bodyPr/>
          <a:lstStyle/>
          <a:p>
            <a:endParaRPr lang="nb-NO"/>
          </a:p>
        </p:txBody>
      </p:sp>
      <p:pic>
        <p:nvPicPr>
          <p:cNvPr id="102" name="Icon" descr="icons/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7860" y="1152144"/>
            <a:ext cx="713232" cy="713232"/>
          </a:xfrm>
          <a:prstGeom prst="rect">
            <a:avLst/>
          </a:prstGeom>
        </p:spPr>
      </p:pic>
      <p:sp>
        <p:nvSpPr>
          <p:cNvPr id="103" name="Text"/>
          <p:cNvSpPr/>
          <p:nvPr/>
        </p:nvSpPr>
        <p:spPr>
          <a:xfrm>
            <a:off x="731520" y="2377440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TECH2</a:t>
            </a:r>
          </a:p>
        </p:txBody>
      </p:sp>
      <p:sp>
        <p:nvSpPr>
          <p:cNvPr id="104" name="Text"/>
          <p:cNvSpPr/>
          <p:nvPr/>
        </p:nvSpPr>
        <p:spPr>
          <a:xfrm>
            <a:off x="731520" y="324612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Lecture</a:t>
            </a:r>
          </a:p>
        </p:txBody>
      </p:sp>
      <p:sp>
        <p:nvSpPr>
          <p:cNvPr id="105" name="Text"/>
          <p:cNvSpPr/>
          <p:nvPr/>
        </p:nvSpPr>
        <p:spPr>
          <a:xfrm>
            <a:off x="731520" y="379476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Programming, Data, and Information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x"/>
          <p:cNvSpPr/>
          <p:nvPr/>
        </p:nvSpPr>
        <p:spPr>
          <a:xfrm>
            <a:off x="457200" y="41148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07" name="Text"/>
          <p:cNvSpPr/>
          <p:nvPr/>
        </p:nvSpPr>
        <p:spPr>
          <a:xfrm>
            <a:off x="457200" y="41148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</a:t>
            </a:r>
          </a:p>
        </p:txBody>
      </p:sp>
      <p:sp>
        <p:nvSpPr>
          <p:cNvPr id="108" name="Circle"/>
          <p:cNvSpPr/>
          <p:nvPr/>
        </p:nvSpPr>
        <p:spPr>
          <a:xfrm>
            <a:off x="10771632" y="384048"/>
            <a:ext cx="822960" cy="822960"/>
          </a:xfrm>
          <a:prstGeom prst="ellipse">
            <a:avLst/>
          </a:prstGeom>
          <a:solidFill>
            <a:srgbClr val="2A3B8F"/>
          </a:solidFill>
          <a:ln/>
        </p:spPr>
        <p:txBody>
          <a:bodyPr/>
          <a:lstStyle/>
          <a:p>
            <a:endParaRPr lang="nb-NO"/>
          </a:p>
        </p:txBody>
      </p:sp>
      <p:pic>
        <p:nvPicPr>
          <p:cNvPr id="109" name="Icon" descr="icons/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2158" y="474574"/>
            <a:ext cx="641909" cy="641909"/>
          </a:xfrm>
          <a:prstGeom prst="rect">
            <a:avLst/>
          </a:prstGeom>
        </p:spPr>
      </p:pic>
      <p:sp>
        <p:nvSpPr>
          <p:cNvPr id="110" name="Text"/>
          <p:cNvSpPr/>
          <p:nvPr/>
        </p:nvSpPr>
        <p:spPr>
          <a:xfrm>
            <a:off x="457200" y="89611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Welcome to TECH2</a:t>
            </a:r>
          </a:p>
        </p:txBody>
      </p:sp>
      <p:sp>
        <p:nvSpPr>
          <p:cNvPr id="111" name="Bullets"/>
          <p:cNvSpPr/>
          <p:nvPr/>
        </p:nvSpPr>
        <p:spPr>
          <a:xfrm>
            <a:off x="822960" y="1920240"/>
            <a:ext cx="1054303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halves: programming fundamentals with Isabel (weeks 34– 39), then working with data with Richard (weeks 40– 45)</a:t>
            </a:r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lecture and one workshop every week — you write code in both</a:t>
            </a:r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previous programming experience assumed — we start from nothing</a:t>
            </a:r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material is published on GitHub and linked from Canvas</a:t>
            </a:r>
          </a:p>
        </p:txBody>
      </p:sp>
      <p:sp>
        <p:nvSpPr>
          <p:cNvPr id="112" name="Box"/>
          <p:cNvSpPr/>
          <p:nvPr/>
        </p:nvSpPr>
        <p:spPr>
          <a:xfrm>
            <a:off x="822960" y="5394960"/>
            <a:ext cx="10543032" cy="640080"/>
          </a:xfrm>
          <a:prstGeom prst="roundRect">
            <a:avLst>
              <a:gd name="adj" fmla="val 11429"/>
            </a:avLst>
          </a:prstGeom>
          <a:solidFill>
            <a:srgbClr val="F1F4FB"/>
          </a:solidFill>
          <a:ln w="15875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13" name="Text"/>
          <p:cNvSpPr/>
          <p:nvPr/>
        </p:nvSpPr>
        <p:spPr>
          <a:xfrm>
            <a:off x="1051560" y="5394960"/>
            <a:ext cx="10085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for today</a:t>
            </a:r>
            <a:r>
              <a:rPr lang="en-US" sz="16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leave knowing what the course covers, how it runs, and what you need working before Friday.</a:t>
            </a:r>
          </a:p>
        </p:txBody>
      </p:sp>
      <p:sp>
        <p:nvSpPr>
          <p:cNvPr id="114" name="SlideNumber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Box"/>
          <p:cNvSpPr/>
          <p:nvPr/>
        </p:nvSpPr>
        <p:spPr>
          <a:xfrm>
            <a:off x="457200" y="41148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16" name="Text"/>
          <p:cNvSpPr/>
          <p:nvPr/>
        </p:nvSpPr>
        <p:spPr>
          <a:xfrm>
            <a:off x="457200" y="41148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</a:p>
        </p:txBody>
      </p:sp>
      <p:sp>
        <p:nvSpPr>
          <p:cNvPr id="117" name="Circle"/>
          <p:cNvSpPr/>
          <p:nvPr/>
        </p:nvSpPr>
        <p:spPr>
          <a:xfrm>
            <a:off x="10771632" y="384048"/>
            <a:ext cx="822960" cy="822960"/>
          </a:xfrm>
          <a:prstGeom prst="ellipse">
            <a:avLst/>
          </a:prstGeom>
          <a:solidFill>
            <a:srgbClr val="2A3B8F"/>
          </a:solidFill>
          <a:ln/>
        </p:spPr>
        <p:txBody>
          <a:bodyPr/>
          <a:lstStyle/>
          <a:p>
            <a:endParaRPr lang="nb-NO"/>
          </a:p>
        </p:txBody>
      </p:sp>
      <p:pic>
        <p:nvPicPr>
          <p:cNvPr id="118" name="Icon" descr="icons/b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2158" y="474574"/>
            <a:ext cx="641909" cy="641909"/>
          </a:xfrm>
          <a:prstGeom prst="rect">
            <a:avLst/>
          </a:prstGeom>
        </p:spPr>
      </p:pic>
      <p:sp>
        <p:nvSpPr>
          <p:cNvPr id="119" name="Text"/>
          <p:cNvSpPr/>
          <p:nvPr/>
        </p:nvSpPr>
        <p:spPr>
          <a:xfrm>
            <a:off x="457200" y="89611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Teaches What</a:t>
            </a:r>
          </a:p>
        </p:txBody>
      </p:sp>
      <p:sp>
        <p:nvSpPr>
          <p:cNvPr id="120" name="Circle"/>
          <p:cNvSpPr/>
          <p:nvPr/>
        </p:nvSpPr>
        <p:spPr>
          <a:xfrm>
            <a:off x="822960" y="210312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21" name="Text"/>
          <p:cNvSpPr/>
          <p:nvPr/>
        </p:nvSpPr>
        <p:spPr>
          <a:xfrm>
            <a:off x="822960" y="2103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sp>
        <p:nvSpPr>
          <p:cNvPr id="122" name="Text"/>
          <p:cNvSpPr/>
          <p:nvPr/>
        </p:nvSpPr>
        <p:spPr>
          <a:xfrm>
            <a:off x="1371600" y="2075688"/>
            <a:ext cx="9994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34– 39 — Isabel Hovdahl: Python basics, decisions, loops, functions, packages</a:t>
            </a:r>
          </a:p>
        </p:txBody>
      </p:sp>
      <p:sp>
        <p:nvSpPr>
          <p:cNvPr id="123" name="Circle"/>
          <p:cNvSpPr/>
          <p:nvPr/>
        </p:nvSpPr>
        <p:spPr>
          <a:xfrm>
            <a:off x="822960" y="278892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24" name="Text"/>
          <p:cNvSpPr/>
          <p:nvPr/>
        </p:nvSpPr>
        <p:spPr>
          <a:xfrm>
            <a:off x="822960" y="2788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</a:p>
        </p:txBody>
      </p:sp>
      <p:sp>
        <p:nvSpPr>
          <p:cNvPr id="125" name="Text"/>
          <p:cNvSpPr/>
          <p:nvPr/>
        </p:nvSpPr>
        <p:spPr>
          <a:xfrm>
            <a:off x="1371600" y="2761488"/>
            <a:ext cx="9994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40– 45 — Richard Foltyn: GitHub, NumPy, pandas, plotting, data wrangling, AI</a:t>
            </a:r>
          </a:p>
        </p:txBody>
      </p:sp>
      <p:sp>
        <p:nvSpPr>
          <p:cNvPr id="126" name="Bullets"/>
          <p:cNvSpPr/>
          <p:nvPr/>
        </p:nvSpPr>
        <p:spPr>
          <a:xfrm>
            <a:off x="822960" y="3657600"/>
            <a:ext cx="105430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teaches you to write Python. Part 2 teaches you to do something useful with it.</a:t>
            </a:r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course, same tools, same habits — the second half builds directly on the first.</a:t>
            </a:r>
          </a:p>
        </p:txBody>
      </p:sp>
      <p:sp>
        <p:nvSpPr>
          <p:cNvPr id="127" name="Box"/>
          <p:cNvSpPr/>
          <p:nvPr/>
        </p:nvSpPr>
        <p:spPr>
          <a:xfrm>
            <a:off x="822960" y="5394960"/>
            <a:ext cx="10543032" cy="640080"/>
          </a:xfrm>
          <a:prstGeom prst="roundRect">
            <a:avLst>
              <a:gd name="adj" fmla="val 11429"/>
            </a:avLst>
          </a:prstGeom>
          <a:solidFill>
            <a:srgbClr val="F1F4FB"/>
          </a:solidFill>
          <a:ln w="15875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28" name="Text"/>
          <p:cNvSpPr/>
          <p:nvPr/>
        </p:nvSpPr>
        <p:spPr>
          <a:xfrm>
            <a:off x="1051560" y="5394960"/>
            <a:ext cx="10085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r>
              <a:rPr lang="en-US" sz="16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isabel.hovdahl@nhh.no · richard.foltyn@nhh.no</a:t>
            </a:r>
          </a:p>
        </p:txBody>
      </p:sp>
      <p:sp>
        <p:nvSpPr>
          <p:cNvPr id="129" name="SlideNumber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Box"/>
          <p:cNvSpPr/>
          <p:nvPr/>
        </p:nvSpPr>
        <p:spPr>
          <a:xfrm>
            <a:off x="457200" y="41148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31" name="Text"/>
          <p:cNvSpPr/>
          <p:nvPr/>
        </p:nvSpPr>
        <p:spPr>
          <a:xfrm>
            <a:off x="457200" y="41148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</a:p>
        </p:txBody>
      </p:sp>
      <p:sp>
        <p:nvSpPr>
          <p:cNvPr id="132" name="Circle"/>
          <p:cNvSpPr/>
          <p:nvPr/>
        </p:nvSpPr>
        <p:spPr>
          <a:xfrm>
            <a:off x="10771632" y="384048"/>
            <a:ext cx="822960" cy="822960"/>
          </a:xfrm>
          <a:prstGeom prst="ellipse">
            <a:avLst/>
          </a:prstGeom>
          <a:solidFill>
            <a:srgbClr val="2A3B8F"/>
          </a:solidFill>
          <a:ln/>
        </p:spPr>
        <p:txBody>
          <a:bodyPr/>
          <a:lstStyle/>
          <a:p>
            <a:endParaRPr lang="nb-NO"/>
          </a:p>
        </p:txBody>
      </p:sp>
      <p:pic>
        <p:nvPicPr>
          <p:cNvPr id="133" name="Icon" descr="icons/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2158" y="474574"/>
            <a:ext cx="641909" cy="641909"/>
          </a:xfrm>
          <a:prstGeom prst="rect">
            <a:avLst/>
          </a:prstGeom>
        </p:spPr>
      </p:pic>
      <p:sp>
        <p:nvSpPr>
          <p:cNvPr id="134" name="Text"/>
          <p:cNvSpPr/>
          <p:nvPr/>
        </p:nvSpPr>
        <p:spPr>
          <a:xfrm>
            <a:off x="457200" y="89611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Python?</a:t>
            </a:r>
          </a:p>
        </p:txBody>
      </p:sp>
      <p:sp>
        <p:nvSpPr>
          <p:cNvPr id="135" name="Bullets"/>
          <p:cNvSpPr/>
          <p:nvPr/>
        </p:nvSpPr>
        <p:spPr>
          <a:xfrm>
            <a:off x="822960" y="1920240"/>
            <a:ext cx="1054303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and open source — no licence, runs on any machine you will ever own</a:t>
            </a:r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enough to learn quickly, powerful enough for serious work</a:t>
            </a:r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purpose: data analysis, visualization, automation, web, machine learning</a:t>
            </a:r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widely used programming language today, and the most used on GitHub</a:t>
            </a:r>
          </a:p>
        </p:txBody>
      </p:sp>
      <p:sp>
        <p:nvSpPr>
          <p:cNvPr id="136" name="Box"/>
          <p:cNvSpPr/>
          <p:nvPr/>
        </p:nvSpPr>
        <p:spPr>
          <a:xfrm>
            <a:off x="822960" y="5394960"/>
            <a:ext cx="10543032" cy="640080"/>
          </a:xfrm>
          <a:prstGeom prst="roundRect">
            <a:avLst>
              <a:gd name="adj" fmla="val 11429"/>
            </a:avLst>
          </a:prstGeom>
          <a:solidFill>
            <a:srgbClr val="F1F4FB"/>
          </a:solidFill>
          <a:ln w="15875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37" name="Text"/>
          <p:cNvSpPr/>
          <p:nvPr/>
        </p:nvSpPr>
        <p:spPr>
          <a:xfrm>
            <a:off x="1051560" y="5394960"/>
            <a:ext cx="10085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rankings</a:t>
            </a:r>
            <a:r>
              <a:rPr lang="en-US" sz="16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tiobe.com/tiobe-index · Fun fact: named after Monty Python, not the snake.</a:t>
            </a:r>
          </a:p>
        </p:txBody>
      </p:sp>
      <p:sp>
        <p:nvSpPr>
          <p:cNvPr id="138" name="SlideNumber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Box"/>
          <p:cNvSpPr/>
          <p:nvPr/>
        </p:nvSpPr>
        <p:spPr>
          <a:xfrm>
            <a:off x="457200" y="41148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40" name="Text"/>
          <p:cNvSpPr/>
          <p:nvPr/>
        </p:nvSpPr>
        <p:spPr>
          <a:xfrm>
            <a:off x="457200" y="41148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</a:p>
        </p:txBody>
      </p:sp>
      <p:sp>
        <p:nvSpPr>
          <p:cNvPr id="141" name="Circle"/>
          <p:cNvSpPr/>
          <p:nvPr/>
        </p:nvSpPr>
        <p:spPr>
          <a:xfrm>
            <a:off x="10771632" y="384048"/>
            <a:ext cx="822960" cy="822960"/>
          </a:xfrm>
          <a:prstGeom prst="ellipse">
            <a:avLst/>
          </a:prstGeom>
          <a:solidFill>
            <a:srgbClr val="2A3B8F"/>
          </a:solidFill>
          <a:ln/>
        </p:spPr>
        <p:txBody>
          <a:bodyPr/>
          <a:lstStyle/>
          <a:p>
            <a:endParaRPr lang="nb-NO"/>
          </a:p>
        </p:txBody>
      </p:sp>
      <p:pic>
        <p:nvPicPr>
          <p:cNvPr id="142" name="Icon" descr="icons/moni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2158" y="474574"/>
            <a:ext cx="641909" cy="641909"/>
          </a:xfrm>
          <a:prstGeom prst="rect">
            <a:avLst/>
          </a:prstGeom>
        </p:spPr>
      </p:pic>
      <p:sp>
        <p:nvSpPr>
          <p:cNvPr id="143" name="Text"/>
          <p:cNvSpPr/>
          <p:nvPr/>
        </p:nvSpPr>
        <p:spPr>
          <a:xfrm>
            <a:off x="457200" y="89611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TECH2 Fits in BEDS</a:t>
            </a:r>
          </a:p>
        </p:txBody>
      </p:sp>
      <p:graphicFrame>
        <p:nvGraphicFramePr>
          <p:cNvPr id="14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5663957"/>
              </p:ext>
            </p:extLst>
          </p:nvPr>
        </p:nvGraphicFramePr>
        <p:xfrm>
          <a:off x="822960" y="1965960"/>
          <a:ext cx="10543032" cy="201168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0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Semester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you use Python for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TECH2 — this course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Programming, data analysis, visualization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TECH3: Applied Statistics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Statistical analysis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TECH4: Mathematics for Decisions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Optimizers and solvers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TECH5: Programming and Application Design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Object-oriented programming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TECH6: Data Science and Econometrics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 learning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5" name="Box"/>
          <p:cNvSpPr/>
          <p:nvPr/>
        </p:nvSpPr>
        <p:spPr>
          <a:xfrm>
            <a:off x="822960" y="5394960"/>
            <a:ext cx="10543032" cy="640080"/>
          </a:xfrm>
          <a:prstGeom prst="roundRect">
            <a:avLst>
              <a:gd name="adj" fmla="val 11429"/>
            </a:avLst>
          </a:prstGeom>
          <a:solidFill>
            <a:srgbClr val="F1F4FB"/>
          </a:solidFill>
          <a:ln w="15875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46" name="Text"/>
          <p:cNvSpPr/>
          <p:nvPr/>
        </p:nvSpPr>
        <p:spPr>
          <a:xfrm>
            <a:off x="1051560" y="5394960"/>
            <a:ext cx="10085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foundation course</a:t>
            </a:r>
            <a:r>
              <a:rPr lang="en-US" sz="16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everything you learn here you will use throughout the program.</a:t>
            </a:r>
          </a:p>
        </p:txBody>
      </p:sp>
      <p:sp>
        <p:nvSpPr>
          <p:cNvPr id="147" name="SlideNumber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Box"/>
          <p:cNvSpPr/>
          <p:nvPr/>
        </p:nvSpPr>
        <p:spPr>
          <a:xfrm>
            <a:off x="457200" y="41148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49" name="Text"/>
          <p:cNvSpPr/>
          <p:nvPr/>
        </p:nvSpPr>
        <p:spPr>
          <a:xfrm>
            <a:off x="457200" y="41148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</a:p>
        </p:txBody>
      </p:sp>
      <p:sp>
        <p:nvSpPr>
          <p:cNvPr id="150" name="Circle"/>
          <p:cNvSpPr/>
          <p:nvPr/>
        </p:nvSpPr>
        <p:spPr>
          <a:xfrm>
            <a:off x="10771632" y="384048"/>
            <a:ext cx="822960" cy="822960"/>
          </a:xfrm>
          <a:prstGeom prst="ellipse">
            <a:avLst/>
          </a:prstGeom>
          <a:solidFill>
            <a:srgbClr val="2A3B8F"/>
          </a:solidFill>
          <a:ln/>
        </p:spPr>
        <p:txBody>
          <a:bodyPr/>
          <a:lstStyle/>
          <a:p>
            <a:endParaRPr lang="nb-NO"/>
          </a:p>
        </p:txBody>
      </p:sp>
      <p:pic>
        <p:nvPicPr>
          <p:cNvPr id="151" name="Icon" descr="icons/navig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2158" y="474574"/>
            <a:ext cx="641909" cy="641909"/>
          </a:xfrm>
          <a:prstGeom prst="rect">
            <a:avLst/>
          </a:prstGeom>
        </p:spPr>
      </p:pic>
      <p:sp>
        <p:nvSpPr>
          <p:cNvPr id="152" name="Text"/>
          <p:cNvSpPr/>
          <p:nvPr/>
        </p:nvSpPr>
        <p:spPr>
          <a:xfrm>
            <a:off x="457200" y="89611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Course Runs</a:t>
            </a:r>
          </a:p>
        </p:txBody>
      </p:sp>
      <p:sp>
        <p:nvSpPr>
          <p:cNvPr id="153" name="Circle"/>
          <p:cNvSpPr/>
          <p:nvPr/>
        </p:nvSpPr>
        <p:spPr>
          <a:xfrm>
            <a:off x="822960" y="210312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54" name="Text"/>
          <p:cNvSpPr/>
          <p:nvPr/>
        </p:nvSpPr>
        <p:spPr>
          <a:xfrm>
            <a:off x="822960" y="2103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sp>
        <p:nvSpPr>
          <p:cNvPr id="155" name="Text"/>
          <p:cNvSpPr/>
          <p:nvPr/>
        </p:nvSpPr>
        <p:spPr>
          <a:xfrm>
            <a:off x="1371600" y="2075688"/>
            <a:ext cx="9994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— Wednesdays 08:15– 10:00, aud. B: new ideas, worked examples, live coding</a:t>
            </a:r>
          </a:p>
        </p:txBody>
      </p:sp>
      <p:sp>
        <p:nvSpPr>
          <p:cNvPr id="156" name="Circle"/>
          <p:cNvSpPr/>
          <p:nvPr/>
        </p:nvSpPr>
        <p:spPr>
          <a:xfrm>
            <a:off x="822960" y="278892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57" name="Text"/>
          <p:cNvSpPr/>
          <p:nvPr/>
        </p:nvSpPr>
        <p:spPr>
          <a:xfrm>
            <a:off x="822960" y="2788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</a:p>
        </p:txBody>
      </p:sp>
      <p:sp>
        <p:nvSpPr>
          <p:cNvPr id="158" name="Text"/>
          <p:cNvSpPr/>
          <p:nvPr/>
        </p:nvSpPr>
        <p:spPr>
          <a:xfrm>
            <a:off x="1371600" y="2761488"/>
            <a:ext cx="9994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— Fridays 12:15– 14:00, aud. B: you write the code, we help when you get stuck</a:t>
            </a:r>
          </a:p>
        </p:txBody>
      </p:sp>
      <p:sp>
        <p:nvSpPr>
          <p:cNvPr id="159" name="Circle"/>
          <p:cNvSpPr/>
          <p:nvPr/>
        </p:nvSpPr>
        <p:spPr>
          <a:xfrm>
            <a:off x="822960" y="347472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60" name="Text"/>
          <p:cNvSpPr/>
          <p:nvPr/>
        </p:nvSpPr>
        <p:spPr>
          <a:xfrm>
            <a:off x="822960" y="3474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</a:p>
        </p:txBody>
      </p:sp>
      <p:sp>
        <p:nvSpPr>
          <p:cNvPr id="161" name="Text"/>
          <p:cNvSpPr/>
          <p:nvPr/>
        </p:nvSpPr>
        <p:spPr>
          <a:xfrm>
            <a:off x="1371600" y="3447288"/>
            <a:ext cx="9994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mandatory assignments in weeks 35, 39 and 43 — all three must pass</a:t>
            </a:r>
          </a:p>
        </p:txBody>
      </p:sp>
      <p:sp>
        <p:nvSpPr>
          <p:cNvPr id="162" name="Circle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63" name="Text"/>
          <p:cNvSpPr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</a:p>
        </p:txBody>
      </p:sp>
      <p:sp>
        <p:nvSpPr>
          <p:cNvPr id="164" name="Text"/>
          <p:cNvSpPr/>
          <p:nvPr/>
        </p:nvSpPr>
        <p:spPr>
          <a:xfrm>
            <a:off x="1371600" y="4133088"/>
            <a:ext cx="9994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laptop to both — you learn this by typing, not by watching</a:t>
            </a:r>
          </a:p>
        </p:txBody>
      </p:sp>
      <p:sp>
        <p:nvSpPr>
          <p:cNvPr id="165" name="Box"/>
          <p:cNvSpPr/>
          <p:nvPr/>
        </p:nvSpPr>
        <p:spPr>
          <a:xfrm>
            <a:off x="822960" y="5394960"/>
            <a:ext cx="10543032" cy="640080"/>
          </a:xfrm>
          <a:prstGeom prst="roundRect">
            <a:avLst>
              <a:gd name="adj" fmla="val 11429"/>
            </a:avLst>
          </a:prstGeom>
          <a:solidFill>
            <a:srgbClr val="F1F4FB"/>
          </a:solidFill>
          <a:ln w="15875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66" name="Text"/>
          <p:cNvSpPr/>
          <p:nvPr/>
        </p:nvSpPr>
        <p:spPr>
          <a:xfrm>
            <a:off x="1051560" y="5394960"/>
            <a:ext cx="10085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happens in the classroom</a:t>
            </a:r>
            <a:r>
              <a:rPr lang="en-US" sz="16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6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Lectures and workshops are both hands-on, so participation is important.</a:t>
            </a:r>
            <a:r>
              <a:rPr lang="en-US" sz="16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i="1" dirty="0">
              <a:solidFill>
                <a:srgbClr val="1E276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67" name="SlideNumber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Box"/>
          <p:cNvSpPr/>
          <p:nvPr/>
        </p:nvSpPr>
        <p:spPr>
          <a:xfrm>
            <a:off x="457200" y="41148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69" name="Text"/>
          <p:cNvSpPr/>
          <p:nvPr/>
        </p:nvSpPr>
        <p:spPr>
          <a:xfrm>
            <a:off x="457200" y="41148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</a:p>
        </p:txBody>
      </p:sp>
      <p:sp>
        <p:nvSpPr>
          <p:cNvPr id="170" name="Circle"/>
          <p:cNvSpPr/>
          <p:nvPr/>
        </p:nvSpPr>
        <p:spPr>
          <a:xfrm>
            <a:off x="10771632" y="384048"/>
            <a:ext cx="822960" cy="822960"/>
          </a:xfrm>
          <a:prstGeom prst="ellipse">
            <a:avLst/>
          </a:prstGeom>
          <a:solidFill>
            <a:srgbClr val="2A3B8F"/>
          </a:solidFill>
          <a:ln/>
        </p:spPr>
        <p:txBody>
          <a:bodyPr/>
          <a:lstStyle/>
          <a:p>
            <a:endParaRPr lang="nb-NO"/>
          </a:p>
        </p:txBody>
      </p:sp>
      <p:pic>
        <p:nvPicPr>
          <p:cNvPr id="171" name="Icon" descr="icons/b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2158" y="474574"/>
            <a:ext cx="641909" cy="641909"/>
          </a:xfrm>
          <a:prstGeom prst="rect">
            <a:avLst/>
          </a:prstGeom>
        </p:spPr>
      </p:pic>
      <p:sp>
        <p:nvSpPr>
          <p:cNvPr id="172" name="Text"/>
          <p:cNvSpPr/>
          <p:nvPr/>
        </p:nvSpPr>
        <p:spPr>
          <a:xfrm>
            <a:off x="457200" y="89611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Schedule</a:t>
            </a:r>
          </a:p>
        </p:txBody>
      </p:sp>
      <p:graphicFrame>
        <p:nvGraphicFramePr>
          <p:cNvPr id="17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9476104"/>
              </p:ext>
            </p:extLst>
          </p:nvPr>
        </p:nvGraphicFramePr>
        <p:xfrm>
          <a:off x="822960" y="1874520"/>
          <a:ext cx="10543032" cy="4389120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Lecturer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 intro &amp; Getting started with VS Code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Isabel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/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basics &amp; Version control with git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Isabel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Assignment 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Isabel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/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Isabel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/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Isabel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/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packages &amp; Virtual environments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Isabel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Assignment 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&amp; NumPy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Richard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/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Intro to pandas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Richard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/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Plotting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Richard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/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Grouping and aggregation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Richard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Assignment 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Concatenating and merging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Richard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/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week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Richard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dirty="0"/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74" name="SlideNumber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Box"/>
          <p:cNvSpPr/>
          <p:nvPr/>
        </p:nvSpPr>
        <p:spPr>
          <a:xfrm>
            <a:off x="457200" y="41148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76" name="Text"/>
          <p:cNvSpPr/>
          <p:nvPr/>
        </p:nvSpPr>
        <p:spPr>
          <a:xfrm>
            <a:off x="457200" y="41148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</a:p>
        </p:txBody>
      </p:sp>
      <p:sp>
        <p:nvSpPr>
          <p:cNvPr id="177" name="Circle"/>
          <p:cNvSpPr/>
          <p:nvPr/>
        </p:nvSpPr>
        <p:spPr>
          <a:xfrm>
            <a:off x="10771632" y="384048"/>
            <a:ext cx="822960" cy="822960"/>
          </a:xfrm>
          <a:prstGeom prst="ellipse">
            <a:avLst/>
          </a:prstGeom>
          <a:solidFill>
            <a:srgbClr val="2A3B8F"/>
          </a:solidFill>
          <a:ln/>
        </p:spPr>
        <p:txBody>
          <a:bodyPr/>
          <a:lstStyle/>
          <a:p>
            <a:endParaRPr lang="nb-NO"/>
          </a:p>
        </p:txBody>
      </p:sp>
      <p:pic>
        <p:nvPicPr>
          <p:cNvPr id="178" name="Icon" descr="icons/check_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2158" y="474574"/>
            <a:ext cx="641909" cy="641909"/>
          </a:xfrm>
          <a:prstGeom prst="rect">
            <a:avLst/>
          </a:prstGeom>
        </p:spPr>
      </p:pic>
      <p:sp>
        <p:nvSpPr>
          <p:cNvPr id="179" name="Text"/>
          <p:cNvSpPr/>
          <p:nvPr/>
        </p:nvSpPr>
        <p:spPr>
          <a:xfrm>
            <a:off x="457200" y="89611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Need Installed</a:t>
            </a:r>
          </a:p>
        </p:txBody>
      </p:sp>
      <p:sp>
        <p:nvSpPr>
          <p:cNvPr id="180" name="Circle"/>
          <p:cNvSpPr/>
          <p:nvPr/>
        </p:nvSpPr>
        <p:spPr>
          <a:xfrm>
            <a:off x="822960" y="210312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81" name="Text"/>
          <p:cNvSpPr/>
          <p:nvPr/>
        </p:nvSpPr>
        <p:spPr>
          <a:xfrm>
            <a:off x="822960" y="2103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sp>
        <p:nvSpPr>
          <p:cNvPr id="182" name="Text"/>
          <p:cNvSpPr/>
          <p:nvPr/>
        </p:nvSpPr>
        <p:spPr>
          <a:xfrm>
            <a:off x="1371600" y="2075688"/>
            <a:ext cx="9994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— the editor you will write all your code in, from Friday onwards</a:t>
            </a:r>
          </a:p>
        </p:txBody>
      </p:sp>
      <p:sp>
        <p:nvSpPr>
          <p:cNvPr id="183" name="Circle"/>
          <p:cNvSpPr/>
          <p:nvPr/>
        </p:nvSpPr>
        <p:spPr>
          <a:xfrm>
            <a:off x="822960" y="278892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84" name="Text"/>
          <p:cNvSpPr/>
          <p:nvPr/>
        </p:nvSpPr>
        <p:spPr>
          <a:xfrm>
            <a:off x="822960" y="2788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</a:p>
        </p:txBody>
      </p:sp>
      <p:sp>
        <p:nvSpPr>
          <p:cNvPr id="185" name="Text"/>
          <p:cNvSpPr/>
          <p:nvPr/>
        </p:nvSpPr>
        <p:spPr>
          <a:xfrm>
            <a:off x="1371600" y="2761488"/>
            <a:ext cx="9994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— version control, used from week 35 and every week after that</a:t>
            </a:r>
          </a:p>
        </p:txBody>
      </p:sp>
      <p:sp>
        <p:nvSpPr>
          <p:cNvPr id="186" name="Circle"/>
          <p:cNvSpPr/>
          <p:nvPr/>
        </p:nvSpPr>
        <p:spPr>
          <a:xfrm>
            <a:off x="822960" y="347472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87" name="Text"/>
          <p:cNvSpPr/>
          <p:nvPr/>
        </p:nvSpPr>
        <p:spPr>
          <a:xfrm>
            <a:off x="822960" y="3474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</a:p>
        </p:txBody>
      </p:sp>
      <p:sp>
        <p:nvSpPr>
          <p:cNvPr id="188" name="Text"/>
          <p:cNvSpPr/>
          <p:nvPr/>
        </p:nvSpPr>
        <p:spPr>
          <a:xfrm>
            <a:off x="1371600" y="3447288"/>
            <a:ext cx="9994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Miniforge — Python itself, plus conda for managing packages</a:t>
            </a:r>
          </a:p>
        </p:txBody>
      </p:sp>
      <p:sp>
        <p:nvSpPr>
          <p:cNvPr id="189" name="Bullets"/>
          <p:cNvSpPr/>
          <p:nvPr/>
        </p:nvSpPr>
        <p:spPr>
          <a:xfrm>
            <a:off x="822960" y="4160520"/>
            <a:ext cx="1054303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have Anaconda or Miniconda? You are fine — no need to change anything.</a:t>
            </a:r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and a two-minute verification checklist: github.com/isabelhovdahl/TECH2 — see guides/</a:t>
            </a:r>
          </a:p>
        </p:txBody>
      </p:sp>
      <p:sp>
        <p:nvSpPr>
          <p:cNvPr id="190" name="Box"/>
          <p:cNvSpPr/>
          <p:nvPr/>
        </p:nvSpPr>
        <p:spPr>
          <a:xfrm>
            <a:off x="822960" y="5623560"/>
            <a:ext cx="10543032" cy="640080"/>
          </a:xfrm>
          <a:prstGeom prst="roundRect">
            <a:avLst>
              <a:gd name="adj" fmla="val 11429"/>
            </a:avLst>
          </a:prstGeom>
          <a:solidFill>
            <a:srgbClr val="F1F4FB"/>
          </a:solidFill>
          <a:ln w="15875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91" name="Text"/>
          <p:cNvSpPr/>
          <p:nvPr/>
        </p:nvSpPr>
        <p:spPr>
          <a:xfrm>
            <a:off x="1051560" y="5623560"/>
            <a:ext cx="10085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something will not install</a:t>
            </a:r>
            <a:r>
              <a:rPr lang="en-US" sz="16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tell us today. We have set aside time in this lecture to fix it.</a:t>
            </a:r>
          </a:p>
        </p:txBody>
      </p:sp>
      <p:sp>
        <p:nvSpPr>
          <p:cNvPr id="192" name="SlideNumber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Box"/>
          <p:cNvSpPr/>
          <p:nvPr/>
        </p:nvSpPr>
        <p:spPr>
          <a:xfrm>
            <a:off x="457200" y="41148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94" name="Text"/>
          <p:cNvSpPr/>
          <p:nvPr/>
        </p:nvSpPr>
        <p:spPr>
          <a:xfrm>
            <a:off x="457200" y="41148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</a:p>
        </p:txBody>
      </p:sp>
      <p:sp>
        <p:nvSpPr>
          <p:cNvPr id="195" name="Circle"/>
          <p:cNvSpPr/>
          <p:nvPr/>
        </p:nvSpPr>
        <p:spPr>
          <a:xfrm>
            <a:off x="10771632" y="384048"/>
            <a:ext cx="822960" cy="822960"/>
          </a:xfrm>
          <a:prstGeom prst="ellipse">
            <a:avLst/>
          </a:prstGeom>
          <a:solidFill>
            <a:srgbClr val="2A3B8F"/>
          </a:solidFill>
          <a:ln/>
        </p:spPr>
        <p:txBody>
          <a:bodyPr/>
          <a:lstStyle/>
          <a:p>
            <a:endParaRPr lang="nb-NO"/>
          </a:p>
        </p:txBody>
      </p:sp>
      <p:pic>
        <p:nvPicPr>
          <p:cNvPr id="196" name="Icon" descr="icons/f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2158" y="474574"/>
            <a:ext cx="641909" cy="641909"/>
          </a:xfrm>
          <a:prstGeom prst="rect">
            <a:avLst/>
          </a:prstGeom>
        </p:spPr>
      </p:pic>
      <p:sp>
        <p:nvSpPr>
          <p:cNvPr id="197" name="Text"/>
          <p:cNvSpPr/>
          <p:nvPr/>
        </p:nvSpPr>
        <p:spPr>
          <a:xfrm>
            <a:off x="457200" y="89611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Kinds of Python File</a:t>
            </a:r>
          </a:p>
        </p:txBody>
      </p:sp>
      <p:sp>
        <p:nvSpPr>
          <p:cNvPr id="198" name="Box"/>
          <p:cNvSpPr/>
          <p:nvPr/>
        </p:nvSpPr>
        <p:spPr>
          <a:xfrm>
            <a:off x="822960" y="1965960"/>
            <a:ext cx="5120640" cy="2926080"/>
          </a:xfrm>
          <a:prstGeom prst="roundRect">
            <a:avLst>
              <a:gd name="adj" fmla="val 6000"/>
            </a:avLst>
          </a:prstGeom>
          <a:solidFill>
            <a:srgbClr val="F1F4FB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99" name="Text"/>
          <p:cNvSpPr/>
          <p:nvPr/>
        </p:nvSpPr>
        <p:spPr>
          <a:xfrm>
            <a:off x="1051560" y="21031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.py — Python script</a:t>
            </a:r>
          </a:p>
        </p:txBody>
      </p:sp>
      <p:sp>
        <p:nvSpPr>
          <p:cNvPr id="200" name="CardBody"/>
          <p:cNvSpPr/>
          <p:nvPr/>
        </p:nvSpPr>
        <p:spPr>
          <a:xfrm>
            <a:off x="1051560" y="2651760"/>
            <a:ext cx="46634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text file of Python code</a:t>
            </a:r>
          </a:p>
          <a:p>
            <a:pPr marL="285750" indent="-28575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top to bottom, every time</a:t>
            </a:r>
          </a:p>
          <a:p>
            <a:pPr marL="285750" indent="-28575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programs and reusable code</a:t>
            </a:r>
          </a:p>
          <a:p>
            <a:pPr marL="285750" indent="-28575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Mainly used in workshops </a:t>
            </a:r>
          </a:p>
        </p:txBody>
      </p:sp>
      <p:sp>
        <p:nvSpPr>
          <p:cNvPr id="201" name="Box"/>
          <p:cNvSpPr/>
          <p:nvPr/>
        </p:nvSpPr>
        <p:spPr>
          <a:xfrm>
            <a:off x="6245352" y="1965960"/>
            <a:ext cx="5120640" cy="2926080"/>
          </a:xfrm>
          <a:prstGeom prst="roundRect">
            <a:avLst>
              <a:gd name="adj" fmla="val 6000"/>
            </a:avLst>
          </a:prstGeom>
          <a:solidFill>
            <a:srgbClr val="F1F4FB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02" name="Text"/>
          <p:cNvSpPr/>
          <p:nvPr/>
        </p:nvSpPr>
        <p:spPr>
          <a:xfrm>
            <a:off x="6473952" y="21031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.ipynb — Jupyter notebook</a:t>
            </a:r>
          </a:p>
        </p:txBody>
      </p:sp>
      <p:sp>
        <p:nvSpPr>
          <p:cNvPr id="203" name="CardBody"/>
          <p:cNvSpPr/>
          <p:nvPr/>
        </p:nvSpPr>
        <p:spPr>
          <a:xfrm>
            <a:off x="6473952" y="2651760"/>
            <a:ext cx="46634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output and notes in one document</a:t>
            </a:r>
          </a:p>
          <a:p>
            <a:pPr marL="285750" indent="-28575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cell by cell, in any order</a:t>
            </a:r>
          </a:p>
          <a:p>
            <a:pPr marL="285750" indent="-28575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exploring and explaining</a:t>
            </a:r>
          </a:p>
          <a:p>
            <a:pPr marL="285750" indent="-28575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lecture material is written in</a:t>
            </a:r>
          </a:p>
        </p:txBody>
      </p:sp>
      <p:sp>
        <p:nvSpPr>
          <p:cNvPr id="204" name="Box"/>
          <p:cNvSpPr/>
          <p:nvPr/>
        </p:nvSpPr>
        <p:spPr>
          <a:xfrm>
            <a:off x="822960" y="5394960"/>
            <a:ext cx="10543032" cy="640080"/>
          </a:xfrm>
          <a:prstGeom prst="roundRect">
            <a:avLst>
              <a:gd name="adj" fmla="val 11429"/>
            </a:avLst>
          </a:prstGeom>
          <a:solidFill>
            <a:srgbClr val="F1F4FB"/>
          </a:solidFill>
          <a:ln w="15875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05" name="Text"/>
          <p:cNvSpPr/>
          <p:nvPr/>
        </p:nvSpPr>
        <p:spPr>
          <a:xfrm>
            <a:off x="1051560" y="5394960"/>
            <a:ext cx="10085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use both</a:t>
            </a:r>
            <a:r>
              <a:rPr lang="en-US" sz="16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you open both in VS Code — you do not need a separate program for notebooks.</a:t>
            </a:r>
          </a:p>
        </p:txBody>
      </p:sp>
      <p:sp>
        <p:nvSpPr>
          <p:cNvPr id="206" name="SlideNumber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Box"/>
          <p:cNvSpPr/>
          <p:nvPr/>
        </p:nvSpPr>
        <p:spPr>
          <a:xfrm>
            <a:off x="457200" y="41148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08" name="Text"/>
          <p:cNvSpPr/>
          <p:nvPr/>
        </p:nvSpPr>
        <p:spPr>
          <a:xfrm>
            <a:off x="457200" y="41148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</a:p>
        </p:txBody>
      </p:sp>
      <p:sp>
        <p:nvSpPr>
          <p:cNvPr id="209" name="Circle"/>
          <p:cNvSpPr/>
          <p:nvPr/>
        </p:nvSpPr>
        <p:spPr>
          <a:xfrm>
            <a:off x="10771632" y="384048"/>
            <a:ext cx="822960" cy="822960"/>
          </a:xfrm>
          <a:prstGeom prst="ellipse">
            <a:avLst/>
          </a:prstGeom>
          <a:solidFill>
            <a:srgbClr val="2A3B8F"/>
          </a:solidFill>
          <a:ln/>
        </p:spPr>
        <p:txBody>
          <a:bodyPr/>
          <a:lstStyle/>
          <a:p>
            <a:endParaRPr lang="nb-NO"/>
          </a:p>
        </p:txBody>
      </p:sp>
      <p:pic>
        <p:nvPicPr>
          <p:cNvPr id="210" name="Icon" descr="icons/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2158" y="474574"/>
            <a:ext cx="641909" cy="641909"/>
          </a:xfrm>
          <a:prstGeom prst="rect">
            <a:avLst/>
          </a:prstGeom>
        </p:spPr>
      </p:pic>
      <p:sp>
        <p:nvSpPr>
          <p:cNvPr id="211" name="Text"/>
          <p:cNvSpPr/>
          <p:nvPr/>
        </p:nvSpPr>
        <p:spPr>
          <a:xfrm>
            <a:off x="457200" y="89611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Material Lives</a:t>
            </a:r>
          </a:p>
        </p:txBody>
      </p:sp>
      <p:sp>
        <p:nvSpPr>
          <p:cNvPr id="212" name="Bullets"/>
          <p:cNvSpPr/>
          <p:nvPr/>
        </p:nvSpPr>
        <p:spPr>
          <a:xfrm>
            <a:off x="822960" y="1920240"/>
            <a:ext cx="1054303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book. Everything is on GitHub, free, and always the current version.</a:t>
            </a:r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github.com/isabelhovdahl/TECH2</a:t>
            </a:r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github.com/richardfoltyn/TECH2-H26</a:t>
            </a:r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Canvas go to Modules — every week links to that week’ s material</a:t>
            </a:r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 not need a GitHub account to read or download anything in part 1</a:t>
            </a:r>
          </a:p>
        </p:txBody>
      </p:sp>
      <p:sp>
        <p:nvSpPr>
          <p:cNvPr id="213" name="Box"/>
          <p:cNvSpPr/>
          <p:nvPr/>
        </p:nvSpPr>
        <p:spPr>
          <a:xfrm>
            <a:off x="822960" y="5394960"/>
            <a:ext cx="10543032" cy="640080"/>
          </a:xfrm>
          <a:prstGeom prst="roundRect">
            <a:avLst>
              <a:gd name="adj" fmla="val 11429"/>
            </a:avLst>
          </a:prstGeom>
          <a:solidFill>
            <a:srgbClr val="F1F4FB"/>
          </a:solidFill>
          <a:ln w="15875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14" name="Text"/>
          <p:cNvSpPr/>
          <p:nvPr/>
        </p:nvSpPr>
        <p:spPr>
          <a:xfrm>
            <a:off x="1051560" y="5394960"/>
            <a:ext cx="10085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 see it in Modules, it is ready</a:t>
            </a:r>
            <a:r>
              <a:rPr lang="en-US" sz="16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Material that is not linked yet may still be changing — do not work ahead from GitHub.</a:t>
            </a:r>
          </a:p>
        </p:txBody>
      </p:sp>
      <p:sp>
        <p:nvSpPr>
          <p:cNvPr id="215" name="SlideNumber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Box"/>
          <p:cNvSpPr/>
          <p:nvPr/>
        </p:nvSpPr>
        <p:spPr>
          <a:xfrm>
            <a:off x="457200" y="41148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17" name="Text"/>
          <p:cNvSpPr/>
          <p:nvPr/>
        </p:nvSpPr>
        <p:spPr>
          <a:xfrm>
            <a:off x="457200" y="41148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</a:p>
        </p:txBody>
      </p:sp>
      <p:sp>
        <p:nvSpPr>
          <p:cNvPr id="218" name="Circle"/>
          <p:cNvSpPr/>
          <p:nvPr/>
        </p:nvSpPr>
        <p:spPr>
          <a:xfrm>
            <a:off x="10771632" y="384048"/>
            <a:ext cx="822960" cy="822960"/>
          </a:xfrm>
          <a:prstGeom prst="ellipse">
            <a:avLst/>
          </a:prstGeom>
          <a:solidFill>
            <a:srgbClr val="2A3B8F"/>
          </a:solidFill>
          <a:ln/>
        </p:spPr>
        <p:txBody>
          <a:bodyPr/>
          <a:lstStyle/>
          <a:p>
            <a:endParaRPr lang="nb-NO"/>
          </a:p>
        </p:txBody>
      </p:sp>
      <p:pic>
        <p:nvPicPr>
          <p:cNvPr id="219" name="Icon" descr="icons/check_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2158" y="474574"/>
            <a:ext cx="641909" cy="641909"/>
          </a:xfrm>
          <a:prstGeom prst="rect">
            <a:avLst/>
          </a:prstGeom>
        </p:spPr>
      </p:pic>
      <p:sp>
        <p:nvSpPr>
          <p:cNvPr id="220" name="Text"/>
          <p:cNvSpPr/>
          <p:nvPr/>
        </p:nvSpPr>
        <p:spPr>
          <a:xfrm>
            <a:off x="457200" y="89611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Assignments &amp; Assessment</a:t>
            </a:r>
          </a:p>
        </p:txBody>
      </p:sp>
      <p:graphicFrame>
        <p:nvGraphicFramePr>
          <p:cNvPr id="22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8776687"/>
              </p:ext>
            </p:extLst>
          </p:nvPr>
        </p:nvGraphicFramePr>
        <p:xfrm>
          <a:off x="822960" y="1965960"/>
          <a:ext cx="10543032" cy="1341120"/>
        </p:xfrm>
        <a:graphic>
          <a:graphicData uri="http://schemas.openxmlformats.org/drawingml/2006/table">
            <a:tbl>
              <a:tblPr/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7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 mandatory assignments — individual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pass all three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35, 39 and 43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school exam, 3 hours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December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 paper, groups of 2– 3, 3 days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Announced on Canvas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2" name="Bullets"/>
          <p:cNvSpPr/>
          <p:nvPr/>
        </p:nvSpPr>
        <p:spPr>
          <a:xfrm>
            <a:off x="822960" y="4114800"/>
            <a:ext cx="1054303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 pass all three assignments to qualify for the exam.</a:t>
            </a:r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 are handed in on Canvas — details are announced there for each one.</a:t>
            </a:r>
          </a:p>
        </p:txBody>
      </p:sp>
      <p:sp>
        <p:nvSpPr>
          <p:cNvPr id="223" name="Box"/>
          <p:cNvSpPr/>
          <p:nvPr/>
        </p:nvSpPr>
        <p:spPr>
          <a:xfrm>
            <a:off x="822960" y="5623560"/>
            <a:ext cx="10543032" cy="640080"/>
          </a:xfrm>
          <a:prstGeom prst="roundRect">
            <a:avLst>
              <a:gd name="adj" fmla="val 11429"/>
            </a:avLst>
          </a:prstGeom>
          <a:solidFill>
            <a:srgbClr val="F1F4FB"/>
          </a:solidFill>
          <a:ln w="15875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24" name="Text"/>
          <p:cNvSpPr/>
          <p:nvPr/>
        </p:nvSpPr>
        <p:spPr>
          <a:xfrm>
            <a:off x="1051560" y="5623560"/>
            <a:ext cx="10085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up week by week</a:t>
            </a:r>
            <a:r>
              <a:rPr lang="en-US" sz="16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Each week builds directly on the last so gaps compound. Steady weekly work makes the assignments (and the course) easier.</a:t>
            </a:r>
          </a:p>
        </p:txBody>
      </p:sp>
      <p:sp>
        <p:nvSpPr>
          <p:cNvPr id="225" name="SlideNumber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Box"/>
          <p:cNvSpPr/>
          <p:nvPr/>
        </p:nvSpPr>
        <p:spPr>
          <a:xfrm>
            <a:off x="457200" y="41148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27" name="Text"/>
          <p:cNvSpPr/>
          <p:nvPr/>
        </p:nvSpPr>
        <p:spPr>
          <a:xfrm>
            <a:off x="457200" y="41148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</a:p>
        </p:txBody>
      </p:sp>
      <p:sp>
        <p:nvSpPr>
          <p:cNvPr id="228" name="Circle"/>
          <p:cNvSpPr/>
          <p:nvPr/>
        </p:nvSpPr>
        <p:spPr>
          <a:xfrm>
            <a:off x="10771632" y="384048"/>
            <a:ext cx="822960" cy="822960"/>
          </a:xfrm>
          <a:prstGeom prst="ellipse">
            <a:avLst/>
          </a:prstGeom>
          <a:solidFill>
            <a:srgbClr val="2A3B8F"/>
          </a:solidFill>
          <a:ln/>
        </p:spPr>
        <p:txBody>
          <a:bodyPr/>
          <a:lstStyle/>
          <a:p>
            <a:endParaRPr lang="nb-NO"/>
          </a:p>
        </p:txBody>
      </p:sp>
      <p:pic>
        <p:nvPicPr>
          <p:cNvPr id="229" name="Icon" descr="icons/moni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2158" y="474574"/>
            <a:ext cx="641909" cy="641909"/>
          </a:xfrm>
          <a:prstGeom prst="rect">
            <a:avLst/>
          </a:prstGeom>
        </p:spPr>
      </p:pic>
      <p:sp>
        <p:nvSpPr>
          <p:cNvPr id="230" name="Text"/>
          <p:cNvSpPr/>
          <p:nvPr/>
        </p:nvSpPr>
        <p:spPr>
          <a:xfrm>
            <a:off x="457200" y="89611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AI in This Course</a:t>
            </a:r>
          </a:p>
        </p:txBody>
      </p:sp>
      <p:sp>
        <p:nvSpPr>
          <p:cNvPr id="231" name="Bullets"/>
          <p:cNvSpPr/>
          <p:nvPr/>
        </p:nvSpPr>
        <p:spPr>
          <a:xfrm>
            <a:off x="822960" y="1920240"/>
            <a:ext cx="1054303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Ask what an error message means, or for a hint when you are properly stuck</a:t>
            </a:r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Ask it to explain code you have already written yourself</a:t>
            </a:r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Ask it for the solution, or accept code you cannot explain line by line</a:t>
            </a:r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Use it to keep pace when you have fallen behind — this hides the gap, it does not close it</a:t>
            </a:r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AI contributes to work you hand in, say so. Each assignment tells you how.</a:t>
            </a:r>
          </a:p>
        </p:txBody>
      </p:sp>
      <p:sp>
        <p:nvSpPr>
          <p:cNvPr id="232" name="Box"/>
          <p:cNvSpPr/>
          <p:nvPr/>
        </p:nvSpPr>
        <p:spPr>
          <a:xfrm>
            <a:off x="822960" y="5394960"/>
            <a:ext cx="10543032" cy="640080"/>
          </a:xfrm>
          <a:prstGeom prst="roundRect">
            <a:avLst>
              <a:gd name="adj" fmla="val 11429"/>
            </a:avLst>
          </a:prstGeom>
          <a:solidFill>
            <a:srgbClr val="F1F4FB"/>
          </a:solidFill>
          <a:ln w="15875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33" name="Text"/>
          <p:cNvSpPr/>
          <p:nvPr/>
        </p:nvSpPr>
        <p:spPr>
          <a:xfrm>
            <a:off x="1051560" y="5394960"/>
            <a:ext cx="10085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to understand things, not to produce things</a:t>
            </a:r>
            <a:r>
              <a:rPr lang="en-US" sz="16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Full guidelines: guides/ai-guidelines.md</a:t>
            </a:r>
          </a:p>
        </p:txBody>
      </p:sp>
      <p:sp>
        <p:nvSpPr>
          <p:cNvPr id="234" name="SlideNumber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Box"/>
          <p:cNvSpPr/>
          <p:nvPr/>
        </p:nvSpPr>
        <p:spPr>
          <a:xfrm>
            <a:off x="457200" y="41148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36" name="Text"/>
          <p:cNvSpPr/>
          <p:nvPr/>
        </p:nvSpPr>
        <p:spPr>
          <a:xfrm>
            <a:off x="457200" y="41148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</a:p>
        </p:txBody>
      </p:sp>
      <p:sp>
        <p:nvSpPr>
          <p:cNvPr id="237" name="Circle"/>
          <p:cNvSpPr/>
          <p:nvPr/>
        </p:nvSpPr>
        <p:spPr>
          <a:xfrm>
            <a:off x="10771632" y="384048"/>
            <a:ext cx="822960" cy="822960"/>
          </a:xfrm>
          <a:prstGeom prst="ellipse">
            <a:avLst/>
          </a:prstGeom>
          <a:solidFill>
            <a:srgbClr val="2A3B8F"/>
          </a:solidFill>
          <a:ln/>
        </p:spPr>
        <p:txBody>
          <a:bodyPr/>
          <a:lstStyle/>
          <a:p>
            <a:endParaRPr lang="nb-NO"/>
          </a:p>
        </p:txBody>
      </p:sp>
      <p:pic>
        <p:nvPicPr>
          <p:cNvPr id="238" name="Icon" descr="icons/p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2158" y="474574"/>
            <a:ext cx="641909" cy="641909"/>
          </a:xfrm>
          <a:prstGeom prst="rect">
            <a:avLst/>
          </a:prstGeom>
        </p:spPr>
      </p:pic>
      <p:sp>
        <p:nvSpPr>
          <p:cNvPr id="239" name="Text"/>
          <p:cNvSpPr/>
          <p:nvPr/>
        </p:nvSpPr>
        <p:spPr>
          <a:xfrm>
            <a:off x="457200" y="89611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Friday</a:t>
            </a:r>
          </a:p>
        </p:txBody>
      </p:sp>
      <p:sp>
        <p:nvSpPr>
          <p:cNvPr id="240" name="Circle"/>
          <p:cNvSpPr/>
          <p:nvPr/>
        </p:nvSpPr>
        <p:spPr>
          <a:xfrm>
            <a:off x="822960" y="210312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41" name="Text"/>
          <p:cNvSpPr/>
          <p:nvPr/>
        </p:nvSpPr>
        <p:spPr>
          <a:xfrm>
            <a:off x="822960" y="2103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sp>
        <p:nvSpPr>
          <p:cNvPr id="242" name="Text"/>
          <p:cNvSpPr/>
          <p:nvPr/>
        </p:nvSpPr>
        <p:spPr>
          <a:xfrm>
            <a:off x="1371600" y="2075688"/>
            <a:ext cx="9994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that VS Code, Git and Miniforge all work — the checklist takes two minutes</a:t>
            </a:r>
          </a:p>
        </p:txBody>
      </p:sp>
      <p:sp>
        <p:nvSpPr>
          <p:cNvPr id="243" name="Circle"/>
          <p:cNvSpPr/>
          <p:nvPr/>
        </p:nvSpPr>
        <p:spPr>
          <a:xfrm>
            <a:off x="822960" y="278892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44" name="Text"/>
          <p:cNvSpPr/>
          <p:nvPr/>
        </p:nvSpPr>
        <p:spPr>
          <a:xfrm>
            <a:off x="822960" y="2788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</a:p>
        </p:txBody>
      </p:sp>
      <p:sp>
        <p:nvSpPr>
          <p:cNvPr id="245" name="Text"/>
          <p:cNvSpPr/>
          <p:nvPr/>
        </p:nvSpPr>
        <p:spPr>
          <a:xfrm>
            <a:off x="1371600" y="2761488"/>
            <a:ext cx="9994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Canvas, go to Modules, and find this week’ s links</a:t>
            </a:r>
          </a:p>
        </p:txBody>
      </p:sp>
      <p:sp>
        <p:nvSpPr>
          <p:cNvPr id="246" name="Circle"/>
          <p:cNvSpPr/>
          <p:nvPr/>
        </p:nvSpPr>
        <p:spPr>
          <a:xfrm>
            <a:off x="822960" y="347472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47" name="Text"/>
          <p:cNvSpPr/>
          <p:nvPr/>
        </p:nvSpPr>
        <p:spPr>
          <a:xfrm>
            <a:off x="822960" y="3474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</a:p>
        </p:txBody>
      </p:sp>
      <p:sp>
        <p:nvSpPr>
          <p:cNvPr id="248" name="Text"/>
          <p:cNvSpPr/>
          <p:nvPr/>
        </p:nvSpPr>
        <p:spPr>
          <a:xfrm>
            <a:off x="1371600" y="3447288"/>
            <a:ext cx="9994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AI guidelines — five minutes, and it will change how you work all semester</a:t>
            </a:r>
          </a:p>
        </p:txBody>
      </p:sp>
      <p:sp>
        <p:nvSpPr>
          <p:cNvPr id="249" name="Circle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50" name="Text"/>
          <p:cNvSpPr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</a:p>
        </p:txBody>
      </p:sp>
      <p:sp>
        <p:nvSpPr>
          <p:cNvPr id="251" name="Text"/>
          <p:cNvSpPr/>
          <p:nvPr/>
        </p:nvSpPr>
        <p:spPr>
          <a:xfrm>
            <a:off x="1371600" y="4133088"/>
            <a:ext cx="9994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laptop to the workshop: Friday 12:15, aud. B</a:t>
            </a:r>
          </a:p>
        </p:txBody>
      </p:sp>
      <p:sp>
        <p:nvSpPr>
          <p:cNvPr id="252" name="Box"/>
          <p:cNvSpPr/>
          <p:nvPr/>
        </p:nvSpPr>
        <p:spPr>
          <a:xfrm>
            <a:off x="822960" y="5394960"/>
            <a:ext cx="10543032" cy="640080"/>
          </a:xfrm>
          <a:prstGeom prst="roundRect">
            <a:avLst>
              <a:gd name="adj" fmla="val 11429"/>
            </a:avLst>
          </a:prstGeom>
          <a:solidFill>
            <a:srgbClr val="F1F4FB"/>
          </a:solidFill>
          <a:ln w="15875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53" name="Text"/>
          <p:cNvSpPr/>
          <p:nvPr/>
        </p:nvSpPr>
        <p:spPr>
          <a:xfrm>
            <a:off x="1051560" y="5394960"/>
            <a:ext cx="10085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 prepare beyond this</a:t>
            </a:r>
            <a:r>
              <a:rPr lang="en-US" sz="16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Turn up on Friday and we start writing code.</a:t>
            </a:r>
          </a:p>
        </p:txBody>
      </p:sp>
      <p:sp>
        <p:nvSpPr>
          <p:cNvPr id="254" name="SlideNumber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Circle"/>
          <p:cNvSpPr/>
          <p:nvPr/>
        </p:nvSpPr>
        <p:spPr>
          <a:xfrm>
            <a:off x="5637276" y="1051560"/>
            <a:ext cx="914400" cy="914400"/>
          </a:xfrm>
          <a:prstGeom prst="ellipse">
            <a:avLst/>
          </a:prstGeom>
          <a:solidFill>
            <a:srgbClr val="2A3B8F"/>
          </a:solidFill>
          <a:ln/>
        </p:spPr>
        <p:txBody>
          <a:bodyPr/>
          <a:lstStyle/>
          <a:p>
            <a:endParaRPr lang="nb-NO"/>
          </a:p>
        </p:txBody>
      </p:sp>
      <p:pic>
        <p:nvPicPr>
          <p:cNvPr id="256" name="Icon" descr="icons/check_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4436" y="1190460"/>
            <a:ext cx="640080" cy="640080"/>
          </a:xfrm>
          <a:prstGeom prst="rect">
            <a:avLst/>
          </a:prstGeom>
        </p:spPr>
      </p:pic>
      <p:sp>
        <p:nvSpPr>
          <p:cNvPr id="257" name="Text"/>
          <p:cNvSpPr/>
          <p:nvPr/>
        </p:nvSpPr>
        <p:spPr>
          <a:xfrm>
            <a:off x="731520" y="192140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You on Friday</a:t>
            </a:r>
          </a:p>
        </p:txBody>
      </p:sp>
      <p:sp>
        <p:nvSpPr>
          <p:cNvPr id="258" name="Bullets"/>
          <p:cNvSpPr/>
          <p:nvPr/>
        </p:nvSpPr>
        <p:spPr>
          <a:xfrm>
            <a:off x="2194560" y="2744360"/>
            <a:ext cx="779983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Lectures Wednesdays 08:15 · Workshops Fridays 12:15 · aud. B</a:t>
            </a:r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material on GitHub, linked from Canvas — Modules</a:t>
            </a:r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VS Code, Git and Miniforge before the workshop</a:t>
            </a:r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isabel.hovdahl@nhh.no · richard.foltyn@nhh.no</a:t>
            </a:r>
          </a:p>
        </p:txBody>
      </p:sp>
      <p:sp>
        <p:nvSpPr>
          <p:cNvPr id="259" name="Box"/>
          <p:cNvSpPr/>
          <p:nvPr/>
        </p:nvSpPr>
        <p:spPr>
          <a:xfrm>
            <a:off x="1463040" y="5029200"/>
            <a:ext cx="9262872" cy="1005840"/>
          </a:xfrm>
          <a:prstGeom prst="roundRect">
            <a:avLst>
              <a:gd name="adj" fmla="val 9091"/>
            </a:avLst>
          </a:prstGeom>
          <a:solidFill>
            <a:srgbClr val="F1F4FB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60" name="Text"/>
          <p:cNvSpPr/>
          <p:nvPr/>
        </p:nvSpPr>
        <p:spPr>
          <a:xfrm>
            <a:off x="1645920" y="5029200"/>
            <a:ext cx="88971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Friday: Getting Started with VS Code</a:t>
            </a: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your first Python script and your first notebook.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Box"/>
          <p:cNvSpPr/>
          <p:nvPr/>
        </p:nvSpPr>
        <p:spPr>
          <a:xfrm>
            <a:off x="457200" y="41148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27" name="Text"/>
          <p:cNvSpPr/>
          <p:nvPr/>
        </p:nvSpPr>
        <p:spPr>
          <a:xfrm>
            <a:off x="457200" y="41148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</a:p>
        </p:txBody>
      </p:sp>
      <p:sp>
        <p:nvSpPr>
          <p:cNvPr id="228" name="Circle"/>
          <p:cNvSpPr/>
          <p:nvPr/>
        </p:nvSpPr>
        <p:spPr>
          <a:xfrm>
            <a:off x="10771632" y="384048"/>
            <a:ext cx="822960" cy="822960"/>
          </a:xfrm>
          <a:prstGeom prst="ellipse">
            <a:avLst/>
          </a:prstGeom>
          <a:solidFill>
            <a:srgbClr val="2A3B8F"/>
          </a:solidFill>
          <a:ln/>
        </p:spPr>
        <p:txBody>
          <a:bodyPr/>
          <a:lstStyle/>
          <a:p>
            <a:endParaRPr lang="nb-NO"/>
          </a:p>
        </p:txBody>
      </p:sp>
      <p:pic>
        <p:nvPicPr>
          <p:cNvPr id="229" name="Icon" descr="icons/moni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2158" y="474574"/>
            <a:ext cx="641909" cy="641909"/>
          </a:xfrm>
          <a:prstGeom prst="rect">
            <a:avLst/>
          </a:prstGeom>
        </p:spPr>
      </p:pic>
      <p:sp>
        <p:nvSpPr>
          <p:cNvPr id="230" name="Text"/>
          <p:cNvSpPr/>
          <p:nvPr/>
        </p:nvSpPr>
        <p:spPr>
          <a:xfrm>
            <a:off x="457200" y="89611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TECHi</a:t>
            </a:r>
          </a:p>
        </p:txBody>
      </p:sp>
      <p:sp>
        <p:nvSpPr>
          <p:cNvPr id="231" name="Bullets"/>
          <p:cNvSpPr/>
          <p:nvPr/>
        </p:nvSpPr>
        <p:spPr>
          <a:xfrm>
            <a:off x="822960" y="1920240"/>
            <a:ext cx="1054303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this course — it knows the lecture material, the exercises, and where we are in the syllabus</a:t>
            </a:r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Privacy-friendly — your conversations are not sent to a commercial AI provider</a:t>
            </a:r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by design — it will not hand you the code. It asks questions and gives hints, so the thinking stays yours</a:t>
            </a:r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it on Canvas under Start here — nothing to install, no account to create</a:t>
            </a:r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may still use other AI tools. The same guidelines apply, and so does declaring your use</a:t>
            </a:r>
          </a:p>
        </p:txBody>
      </p:sp>
      <p:sp>
        <p:nvSpPr>
          <p:cNvPr id="232" name="Box"/>
          <p:cNvSpPr/>
          <p:nvPr/>
        </p:nvSpPr>
        <p:spPr>
          <a:xfrm>
            <a:off x="822960" y="5394960"/>
            <a:ext cx="10543032" cy="640080"/>
          </a:xfrm>
          <a:prstGeom prst="roundRect">
            <a:avLst>
              <a:gd name="adj" fmla="val 11429"/>
            </a:avLst>
          </a:prstGeom>
          <a:solidFill>
            <a:srgbClr val="F1F4FB"/>
          </a:solidFill>
          <a:ln w="15875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33" name="Text"/>
          <p:cNvSpPr/>
          <p:nvPr/>
        </p:nvSpPr>
        <p:spPr>
          <a:xfrm>
            <a:off x="1051560" y="5394960"/>
            <a:ext cx="10085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will not give you the answer, and that is the point</a:t>
            </a:r>
            <a:r>
              <a:rPr lang="en-US" sz="16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Try it on something you are genuinely stuck on — that is when it is most useful.</a:t>
            </a:r>
          </a:p>
        </p:txBody>
      </p:sp>
      <p:sp>
        <p:nvSpPr>
          <p:cNvPr id="234" name="SlideNumber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</TotalTime>
  <Words>1195</Words>
  <Application>Microsoft Office PowerPoint</Application>
  <PresentationFormat>Widescreen</PresentationFormat>
  <Paragraphs>189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Isabel Montero Hovdahl</cp:lastModifiedBy>
  <cp:revision>2</cp:revision>
  <dcterms:created xsi:type="dcterms:W3CDTF">2026-07-17T12:06:36Z</dcterms:created>
  <dcterms:modified xsi:type="dcterms:W3CDTF">2026-08-09T11:38:27Z</dcterms:modified>
</cp:coreProperties>
</file>